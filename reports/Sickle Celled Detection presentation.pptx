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30 sec. Introduce yourself, your university, and the project title. Mention the live demo is coming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2 min. Open with the human story — 20,000 children born with SCD in Uganda each year. Emphasise the diagnostic gap. End by stating your proposed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1.5 min. Explain the two datasets. Tell the story of what went wrong during data preparation — Mendeley had the wrong cell type, and the labelled images had burned-in boxes. These were real research decisions, not textbook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1.5 min. Walk through the three models. Emphasise WHY transfer learning — not just what it is. The baseline exists to prove the point. Justify your key preprocessing decisions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2 min. Present the numbers clearly. Highlight the clinical significance of sensitivity — missing a sickle cell patient is the worst outcome. Point out the dramatic drop in false positives from 14 to 1. Let the numbers tell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1.5 min. Explain Grad-CAM in one sentence for the audience. Then focus on what the heatmaps tell us — especially the error cases. Be honest: one error was caused by a staining artefact, one by dense cell packing.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2 min. Open the browser BEFORE presenting. Have the Hugging Face Space already loaded. Upload a real blood smear image from your test set. Show the prediction and the Grad-CAM overlay. Do not spend time explaining the interface — let the demo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1.5 min. This is a key slide per the guidelines. Speak honestly about what you learned — not just technical lessons but research process lessons. The dataset issues, the annotation problem, the domain gap. Show you understand the project deeply.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1 min. Summarise your contributions in plain language. End with the novelty claim — say it confidently. Briefly mention what you would do next if you had more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30 sec. Say thank you. Pause. Invite questions. Have the demo tab open in your browser ready to show again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49440" y="-1005840"/>
            <a:ext cx="3657600" cy="365760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>
                <a:alpha val="26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MSB7216  |  DEEP LEARNING FOR HEALTH DATA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8229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Automated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Sickle Cell Detection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Approach Using African Clinical Microscopy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Okidi Patrovas Gaabriel   |   2025/HD07/26020U   |   Makerere University   |   May 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53035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38404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Live Demo: huggingface.co/spaces/Patrovas/sickle-cell-detection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MOTIVATION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56032" y="804672"/>
            <a:ext cx="1993392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56032" y="896112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56032" y="1719072"/>
            <a:ext cx="1993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Sickle cell trait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in Uganda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32304" y="804672"/>
            <a:ext cx="1993392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32304" y="896112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432304" y="1719072"/>
            <a:ext cx="1993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Kampala alone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08576" y="804672"/>
            <a:ext cx="1993392" cy="1920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08576" y="896112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608576" y="1719072"/>
            <a:ext cx="1993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born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per year in Uganda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84848" y="804672"/>
            <a:ext cx="1993392" cy="192024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84848" y="896112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784848" y="1719072"/>
            <a:ext cx="19933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clinics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diagnostics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Gap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47472" y="3319272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273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requires trained laboratory scientists and specialist microscopes — unavailable in most rural Ugandan settings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47472" y="3794760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microscopic examination is slow, subjective, and dependent on staining quality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47472" y="4270248"/>
            <a:ext cx="201168" cy="2011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2245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rural areas may go years without diagnosis, missing early treatment that prevents life-threatening crises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D6EAF0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project: an explainable deep learning screening tool designed specifically for low-resource Ugandan health workers using mobile-phone microscopy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KEY CHALLENGES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41605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77240"/>
            <a:ext cx="41605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772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74320" y="1033272"/>
            <a:ext cx="4160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Tushabe et al. (2024) — Uganda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41732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422 unlabelled sickle cell images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183794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147 normal smear images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225856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Soroti &amp; Kumi districts, Uganda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267919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phone cameras on basic microscopes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09160" y="777240"/>
            <a:ext cx="41605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777240"/>
            <a:ext cx="41605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7772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— NORMAL CLASS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09160" y="1033272"/>
            <a:ext cx="4160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BCCD Dataset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141732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364 normal blood smear images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92040" y="183794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Controlled laboratory camera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892040" y="225856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 licence — open source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92040" y="267919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clean negative class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74320" y="3401568"/>
            <a:ext cx="859536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340156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933 images   |   Train: 653   |   Val: 140   |   Test: 140   |   Stratified 70/15/15 split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74320" y="3886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Challenges Encountered: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74320" y="4251960"/>
            <a:ext cx="8595360" cy="347472"/>
          </a:xfrm>
          <a:prstGeom prst="rect">
            <a:avLst/>
          </a:prstGeom>
          <a:solidFill>
            <a:srgbClr val="FFF3F3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2519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Original normal class dataset (Mendeley) contained white blood cells, not red blood cells — replaced entirely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4672584"/>
            <a:ext cx="8595360" cy="347472"/>
          </a:xfrm>
          <a:prstGeom prst="rect">
            <a:avLst/>
          </a:prstGeom>
          <a:solidFill>
            <a:srgbClr val="FFF3F3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67258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422 labelled Tushabe images had bounding box annotations burned directly into the pixels — all excluded to prevent model learning boxes instead of biology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834640" cy="2926080"/>
          </a:xfrm>
          <a:prstGeom prst="rect">
            <a:avLst/>
          </a:prstGeom>
          <a:solidFill>
            <a:srgbClr val="F4F8FB"/>
          </a:solidFill>
          <a:ln w="25400">
            <a:solidFill>
              <a:srgbClr val="7B9CB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77240"/>
            <a:ext cx="2834640" cy="530352"/>
          </a:xfrm>
          <a:prstGeom prst="rect">
            <a:avLst/>
          </a:prstGeom>
          <a:solidFill>
            <a:srgbClr val="7B9CB5"/>
          </a:solidFill>
          <a:ln w="12700">
            <a:solidFill>
              <a:srgbClr val="7B9C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772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777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051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" y="14173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convolutional blocks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18928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25.8M parameters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36829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pretrained knowledge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28437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Purpose: performance floor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27832" y="777240"/>
            <a:ext cx="2834640" cy="2926080"/>
          </a:xfrm>
          <a:prstGeom prst="rect">
            <a:avLst/>
          </a:prstGeom>
          <a:solidFill>
            <a:srgbClr val="F4F8FB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27832" y="777240"/>
            <a:ext cx="283464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27832" y="7772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776472" y="777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776472" y="1051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364992" y="14173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Pretrained on ImageNet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64992" y="18928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4.0M parameters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64992" y="236829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Compound scaling design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364992" y="28437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Unfrozen fine-tuning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81344" y="777240"/>
            <a:ext cx="2834640" cy="2926080"/>
          </a:xfrm>
          <a:prstGeom prst="rect">
            <a:avLst/>
          </a:prstGeom>
          <a:solidFill>
            <a:srgbClr val="F4F8FB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81344" y="777240"/>
            <a:ext cx="283464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81344" y="7772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729984" y="777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729984" y="1051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18504" y="14173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Pretrained on ImageNet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18504" y="18928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23.5M parameters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318504" y="236829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Residual connections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318504" y="28437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Unfrozen fine-tuning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7432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737360" y="38404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resized to 224×224  |  ImageNet normalisation  |  Augmentation: flip, rotation, colour jitter  |  WeightedRandomSampler for class balance  |  Early stopping patience 10  |  Adam optimiser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D6EAF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learning?  Only 653 training images — a model trained from scratch cannot learn reliable features from so little data. Pretrained ImageNet weights provide a strong visual foundation.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173736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1188720"/>
                <a:gridCol w="1188720"/>
                <a:gridCol w="1188720"/>
                <a:gridCol w="1188720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CNN (scratch)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 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  ★ Best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2679192"/>
            <a:ext cx="201168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274320" y="27614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+10.71%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274320" y="3355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3630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450592" y="2679192"/>
            <a:ext cx="2011680" cy="1325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450592" y="27614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0.9973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450592" y="3355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450592" y="3630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perfect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26864" y="2679192"/>
            <a:ext cx="2011680" cy="13258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26864" y="27614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only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4626864" y="3355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26864" y="3630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14 baseline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803136" y="2679192"/>
            <a:ext cx="2011680" cy="1325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803136" y="27614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only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803136" y="3355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803136" y="36301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 baseline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74320" y="4133088"/>
            <a:ext cx="859536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133088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significance: In screening 1,000 Ugandan patients, ResNet-50 would miss only 2 sickle cell cases. The baseline would miss 6. Every missed case is a child denied early treatment.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EXPLAINABILITY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shows which regions of each blood smear image the model focused on when making a prediction — turning a black-box output into a clinically interpretable explanation.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28600" y="1325880"/>
            <a:ext cx="4114800" cy="1508760"/>
          </a:xfrm>
          <a:prstGeom prst="rect">
            <a:avLst/>
          </a:prstGeom>
          <a:solidFill>
            <a:srgbClr val="1A3A5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325880"/>
            <a:ext cx="41148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7647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focused activation on cell-dense regions inside the circular microscope field. Model correctly attends to sickle cell morphology.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90872" y="1325880"/>
            <a:ext cx="4114800" cy="1508760"/>
          </a:xfrm>
          <a:prstGeom prst="rect">
            <a:avLst/>
          </a:prstGeom>
          <a:solidFill>
            <a:srgbClr val="1A3A50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90872" y="1325880"/>
            <a:ext cx="4114800" cy="365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90872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28032" y="17647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Diffuse, unfocused activation. Model correctly finds no distinctive pathological features in a normal smear.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8600" y="3017520"/>
            <a:ext cx="4114800" cy="1508760"/>
          </a:xfrm>
          <a:prstGeom prst="rect">
            <a:avLst/>
          </a:prstGeom>
          <a:solidFill>
            <a:srgbClr val="1A3A5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" y="3017520"/>
            <a:ext cx="411480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860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34564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on a staining artefact (dark particle), not a cell. Confidence 0.841. Caused by imaging noise, not biology.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90872" y="3017520"/>
            <a:ext cx="4114800" cy="1508760"/>
          </a:xfrm>
          <a:prstGeom prst="rect">
            <a:avLst/>
          </a:prstGeom>
          <a:solidFill>
            <a:srgbClr val="1A3A5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90872" y="3017520"/>
            <a:ext cx="411480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28032" y="34564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activation, confidence 0.472 — just below threshold. Unusually dense cell packing and atypical staining made this case genuinely difficult.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4736592"/>
            <a:ext cx="8686800" cy="32004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8600" y="47365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errors are traceable to specific, fixable causes — not fundamental model failure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560320" y="274320"/>
            <a:ext cx="4023360" cy="402336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8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749040" y="6400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🔬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1440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blood smear image  →  Instant prediction  +  Grad-CAM heatmap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71600" y="3749040"/>
            <a:ext cx="64008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71600" y="37490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huggingface.co/spaces/Patrovas/sickle-cell-detection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  |   98.57% Accuracy   |   AUC-ROC 0.9973   |   Only 2 errors on 140 test images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77240"/>
            <a:ext cx="502920" cy="1920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4904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8686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your data before writing any code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1307592"/>
            <a:ext cx="34290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Mendeley dataset had the wrong cell type. The labelled images had annotations burned into pixels. Both were discovered only through manual inspection. No amount of modelling would have fixed a fundamentally flawed training set.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36592" y="77724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6592" y="777240"/>
            <a:ext cx="502920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14904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30952" y="8686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is not optional for small medical datasets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330952" y="1307592"/>
            <a:ext cx="34290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CNN trained from scratch achieved 87.86% accuracy with 17 errors. ResNet-50 with transfer learning achieved 98.57% with 2 errors — using the same data. The gap is not marginal: it is clinically meaningful.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88036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880360"/>
            <a:ext cx="502920" cy="1920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reveals what accuracy hides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68680" y="3410712"/>
            <a:ext cx="34290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false positive had 0.841 confidence. Without Grad-CAM, we would not have known the model was responding to a dust particle. Explainability is not optional in medical AI — it is how you build justified trust.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36592" y="2880360"/>
            <a:ext cx="41148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36592" y="2880360"/>
            <a:ext cx="502920" cy="1920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36592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30952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gaps within a class matter as much as between classes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330952" y="3410712"/>
            <a:ext cx="34290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BCCD images look different from Tushabe images within the negative class. A model can exploit this difference in unexpected ways. Real-world deployment requires consistent imaging conditions across all data sources.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457200" y="2926080"/>
            <a:ext cx="3200400" cy="3200400"/>
          </a:xfrm>
          <a:prstGeom prst="ellipse">
            <a:avLst/>
          </a:prstGeom>
          <a:solidFill>
            <a:srgbClr val="1C7293">
              <a:alpha val="14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02C39A">
                <a:alpha val="2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822960"/>
            <a:ext cx="8229600" cy="585216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822960"/>
            <a:ext cx="594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822960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deep learning study on the Tushabe (2024) Ugandan clinical mobile-phone microscopy dataset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536192"/>
            <a:ext cx="8229600" cy="585216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536192"/>
            <a:ext cx="594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1536192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achieves 98.57% accuracy and AUC-ROC 0.9973 — only 2 errors on 140 test images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2249424"/>
            <a:ext cx="8229600" cy="585216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249424"/>
            <a:ext cx="594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3000" y="2249424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confirms the model learns real biology, not imaging artefacts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2962656"/>
            <a:ext cx="8229600" cy="585216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962656"/>
            <a:ext cx="594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43000" y="2962656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Gradio app demonstrates a viable low-resource screening tool for rural Uganda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675888"/>
            <a:ext cx="8229600" cy="585216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675888"/>
            <a:ext cx="5943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43000" y="3675888"/>
            <a:ext cx="74066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bridges the data scarcity gap that makes medical AI hard in low-income settings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clinical validation on independent Ugandan data  •  artefact detection preprocessing  •  threshold optimisation  •  multi-class blood disorder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217920" y="2011680"/>
            <a:ext cx="3657600" cy="3657600"/>
          </a:xfrm>
          <a:prstGeom prst="ellipse">
            <a:avLst/>
          </a:prstGeom>
          <a:solidFill>
            <a:srgbClr val="0D2137">
              <a:alpha val="18000"/>
            </a:srgbClr>
          </a:solidFill>
          <a:ln w="12700">
            <a:solidFill>
              <a:srgbClr val="0D2137">
                <a:alpha val="22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371600" y="2606040"/>
            <a:ext cx="6400800" cy="502920"/>
          </a:xfrm>
          <a:prstGeom prst="rect">
            <a:avLst/>
          </a:prstGeom>
          <a:solidFill>
            <a:srgbClr val="0D2137">
              <a:alpha val="80000"/>
            </a:srgbClr>
          </a:solidFill>
          <a:ln w="12700">
            <a:solidFill>
              <a:srgbClr val="0D213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2606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github.com/Patro331/sickle-cell-detection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71600" y="3273552"/>
            <a:ext cx="6400800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371600" y="327355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Live Demo: huggingface.co/spaces/Patrovas/sickle-cell-detection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Okidi Patrovas Gaabriel  |  2025/HD07/26020U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Makerere University  |  MSB7216: Deep Learning for Health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Sickle Cell Detection — MSB7216 Final Project</dc:title>
  <dc:subject>PptxGenJS Presentation</dc:subject>
  <dc:creator>Okidi Patrovas Gaabriel</dc:creator>
  <cp:lastModifiedBy>Okidi Patrovas Gaabriel</cp:lastModifiedBy>
  <cp:revision>1</cp:revision>
  <dcterms:created xsi:type="dcterms:W3CDTF">2026-05-14T15:50:35Z</dcterms:created>
  <dcterms:modified xsi:type="dcterms:W3CDTF">2026-05-14T15:50:35Z</dcterms:modified>
</cp:coreProperties>
</file>