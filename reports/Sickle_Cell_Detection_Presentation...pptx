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Introduce yourself and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Set the clinical scene. Statistics first, then the human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through what has been done. Foundation first, then recent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Four clear gaps. Speak confidently — these are genuine missing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Read it slowly and clearly. Pause after it.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Main objective first — it is clinical. Specific objectives are technical.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Describe both datasets. Tell the data challenge story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Let the images speak. Point out the circular border and the cell morphology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Quick numbers — 933 images, split, class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Three models in sequence. Explain why transfer learning is necessary on 653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Key training decisions. Keep it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Sets the floor. 87.86% from scratch. 17 errors. Unstable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First transfer learning model. Point out the dramatic drop in false positives from 14 to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Best model. Only 2 errors. Point to the ROC hugging the top-left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Full comparison. Let the table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One sentence on Grad-CAM. Then show true positive activation. Point out the consistent focal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Contrast with true positives — diffuse activation confirms the model learned a genuine biological asymmetry.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Spend most time here. The errors are the most interesting part — they are honest about what the model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Open the browser BEFORE presenting. Have the Space loaded. Upload a real test image. Show prediction and Grad-CAM. Do not narrate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Four honest lessons. The data inspection lesson is your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Five points. State the novelty confidently. End with the clinical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Thank you. Pause.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3" name="Shape 0"/>
          <p:cNvSpPr/>
          <p:nvPr/>
        </p:nvSpPr>
        <p:spPr>
          <a:xfrm>
            <a:off x="6583680" y="-914400"/>
            <a:ext cx="4114800" cy="4114800"/>
          </a:xfrm>
          <a:prstGeom prst="ellipse">
            <a:avLst/>
          </a:prstGeom>
          <a:solidFill>
            <a:srgbClr val="1A6B7A">
              <a:alpha val="18000"/>
            </a:srgbClr>
          </a:solidFill>
          <a:ln w="12700">
            <a:solidFill>
              <a:srgbClr val="1A6B7A">
                <a:alpha val="22000"/>
              </a:srgbClr>
            </a:solidFill>
            <a:prstDash val="solid"/>
          </a:ln>
        </p:spPr>
      </p:sp>
      <p:sp>
        <p:nvSpPr>
          <p:cNvPr id="4" name="Text 1"/>
          <p:cNvSpPr/>
          <p:nvPr/>
        </p:nvSpPr>
        <p:spPr>
          <a:xfrm>
            <a:off x="502920" y="384048"/>
            <a:ext cx="7772400" cy="274320"/>
          </a:xfrm>
          <a:prstGeom prst="rect">
            <a:avLst/>
          </a:prstGeom>
          <a:noFill/>
          <a:ln/>
        </p:spPr>
        <p:txBody>
          <a:bodyPr wrap="square" rtlCol="0" anchor="ctr"/>
          <a:lstStyle/>
          <a:p>
            <a:pPr indent="0" marL="0">
              <a:buNone/>
            </a:pPr>
            <a:r>
              <a:rPr lang="en-US" sz="900" b="1" spc="300" kern="0" dirty="0">
                <a:solidFill>
                  <a:srgbClr val="1DB3A4"/>
                </a:solidFill>
                <a:latin typeface="Calibri" pitchFamily="34" charset="0"/>
                <a:ea typeface="Calibri" pitchFamily="34" charset="-122"/>
                <a:cs typeface="Calibri" pitchFamily="34" charset="-120"/>
              </a:rPr>
              <a:t>MSB7216  |  DEEP LEARNING FOR HEALTH DATA</a:t>
            </a:r>
            <a:endParaRPr lang="en-US" sz="900" dirty="0"/>
          </a:p>
        </p:txBody>
      </p:sp>
      <p:sp>
        <p:nvSpPr>
          <p:cNvPr id="5" name="Text 2"/>
          <p:cNvSpPr/>
          <p:nvPr/>
        </p:nvSpPr>
        <p:spPr>
          <a:xfrm>
            <a:off x="502920" y="804672"/>
            <a:ext cx="8046720" cy="192024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Deep Learning for Automated</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Sickle Cell Detection</a:t>
            </a:r>
            <a:endParaRPr lang="en-US" sz="4600" dirty="0"/>
          </a:p>
        </p:txBody>
      </p:sp>
      <p:sp>
        <p:nvSpPr>
          <p:cNvPr id="6" name="Text 3"/>
          <p:cNvSpPr/>
          <p:nvPr/>
        </p:nvSpPr>
        <p:spPr>
          <a:xfrm>
            <a:off x="502920" y="2816352"/>
            <a:ext cx="7132320" cy="502920"/>
          </a:xfrm>
          <a:prstGeom prst="rect">
            <a:avLst/>
          </a:prstGeom>
          <a:noFill/>
          <a:ln/>
        </p:spPr>
        <p:txBody>
          <a:bodyPr wrap="square" rtlCol="0" anchor="ctr"/>
          <a:lstStyle/>
          <a:p>
            <a:pPr indent="0" marL="0">
              <a:buNone/>
            </a:pPr>
            <a:r>
              <a:rPr lang="en-US" sz="1500" i="1" dirty="0">
                <a:solidFill>
                  <a:srgbClr val="D4E8EC"/>
                </a:solidFill>
                <a:latin typeface="Calibri" pitchFamily="34" charset="0"/>
                <a:ea typeface="Calibri" pitchFamily="34" charset="-122"/>
                <a:cs typeface="Calibri" pitchFamily="34" charset="-120"/>
              </a:rPr>
              <a:t>An Explainable Approach Using African Clinical Microscopy Data</a:t>
            </a:r>
            <a:endParaRPr lang="en-US" sz="1500" dirty="0"/>
          </a:p>
        </p:txBody>
      </p:sp>
      <p:sp>
        <p:nvSpPr>
          <p:cNvPr id="7" name="Text 4"/>
          <p:cNvSpPr/>
          <p:nvPr/>
        </p:nvSpPr>
        <p:spPr>
          <a:xfrm>
            <a:off x="502920" y="3657600"/>
            <a:ext cx="8229600" cy="274320"/>
          </a:xfrm>
          <a:prstGeom prst="rect">
            <a:avLst/>
          </a:prstGeom>
          <a:noFill/>
          <a:ln/>
        </p:spPr>
        <p:txBody>
          <a:bodyPr wrap="square" rtlCol="0" anchor="ctr"/>
          <a:lstStyle/>
          <a:p>
            <a:pPr indent="0" marL="0">
              <a:buNone/>
            </a:pPr>
            <a:r>
              <a:rPr lang="en-US" sz="1100" dirty="0">
                <a:solidFill>
                  <a:srgbClr val="7A92A8"/>
                </a:solidFill>
                <a:latin typeface="Calibri" pitchFamily="34" charset="0"/>
                <a:ea typeface="Calibri" pitchFamily="34" charset="-122"/>
                <a:cs typeface="Calibri" pitchFamily="34" charset="-120"/>
              </a:rPr>
              <a:t>Okidi Patrovas Gabriel   |   2025/HD07/26020U   |   Makerere University, Kampala, Uganda</a:t>
            </a:r>
            <a:endParaRPr lang="en-US" sz="1100" dirty="0"/>
          </a:p>
        </p:txBody>
      </p:sp>
      <p:sp>
        <p:nvSpPr>
          <p:cNvPr id="8" name="Text 5"/>
          <p:cNvSpPr/>
          <p:nvPr/>
        </p:nvSpPr>
        <p:spPr>
          <a:xfrm>
            <a:off x="502920" y="4133088"/>
            <a:ext cx="7772400" cy="384048"/>
          </a:xfrm>
          <a:prstGeom prst="rect">
            <a:avLst/>
          </a:prstGeom>
          <a:noFill/>
          <a:ln/>
        </p:spPr>
        <p:txBody>
          <a:bodyPr wrap="square" rtlCol="0" anchor="ctr"/>
          <a:lstStyle/>
          <a:p>
            <a:pPr indent="0" marL="0">
              <a:buNone/>
            </a:pPr>
            <a:r>
              <a:rPr lang="en-US" sz="1100" b="1" dirty="0">
                <a:solidFill>
                  <a:srgbClr val="1DB3A4"/>
                </a:solidFill>
                <a:latin typeface="Calibri" pitchFamily="34" charset="0"/>
                <a:ea typeface="Calibri" pitchFamily="34" charset="-122"/>
                <a:cs typeface="Calibri" pitchFamily="34" charset="-120"/>
              </a:rPr>
              <a:t>github.com/Patro331/sickle-cell-detection   |   huggingface.co/spaces/Patrovas/sickle-cell-detection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Background</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8138160" cy="822960"/>
          </a:xfrm>
          <a:prstGeom prst="rect">
            <a:avLst/>
          </a:prstGeom>
          <a:noFill/>
          <a:ln/>
        </p:spPr>
        <p:txBody>
          <a:bodyPr wrap="square" rtlCol="0" anchor="ctr"/>
          <a:lstStyle/>
          <a:p>
            <a:pPr indent="0" marL="0">
              <a:spcAft>
                <a:spcPts val="600"/>
              </a:spcAft>
              <a:buNone/>
            </a:pPr>
            <a:r>
              <a:rPr lang="en-US" sz="1400" dirty="0">
                <a:solidFill>
                  <a:srgbClr val="0B1F3A"/>
                </a:solidFill>
                <a:latin typeface="Calibri" pitchFamily="34" charset="0"/>
                <a:ea typeface="Calibri" pitchFamily="34" charset="-122"/>
                <a:cs typeface="Calibri" pitchFamily="34" charset="-120"/>
              </a:rPr>
              <a:t>Sickle cell disease (SCD) is a hereditary blood disorder caused by a mutation in the HBB gene. Under low oxygen conditions, the mutated haemoglobin S causes red blood cells to deform into a rigid crescent shape, blocking blood vessels and causing progressive organ damage over time (Piel et al., 2013).</a:t>
            </a:r>
            <a:endParaRPr lang="en-US" sz="1400" dirty="0"/>
          </a:p>
        </p:txBody>
      </p:sp>
      <p:sp>
        <p:nvSpPr>
          <p:cNvPr id="6" name="Text 3"/>
          <p:cNvSpPr/>
          <p:nvPr/>
        </p:nvSpPr>
        <p:spPr>
          <a:xfrm>
            <a:off x="502920" y="1901952"/>
            <a:ext cx="2560320" cy="777240"/>
          </a:xfrm>
          <a:prstGeom prst="rect">
            <a:avLst/>
          </a:prstGeom>
          <a:noFill/>
          <a:ln/>
        </p:spPr>
        <p:txBody>
          <a:bodyPr wrap="square" rtlCol="0" anchor="ctr"/>
          <a:lstStyle/>
          <a:p>
            <a:pPr algn="ctr" indent="0" marL="0">
              <a:buNone/>
            </a:pPr>
            <a:r>
              <a:rPr lang="en-US" sz="4000" b="1" dirty="0">
                <a:solidFill>
                  <a:srgbClr val="1A6B7A"/>
                </a:solidFill>
                <a:latin typeface="Calibri" pitchFamily="34" charset="0"/>
                <a:ea typeface="Calibri" pitchFamily="34" charset="-122"/>
                <a:cs typeface="Calibri" pitchFamily="34" charset="-120"/>
              </a:rPr>
              <a:t>13.3%</a:t>
            </a:r>
            <a:endParaRPr lang="en-US" sz="4000" dirty="0"/>
          </a:p>
        </p:txBody>
      </p:sp>
      <p:sp>
        <p:nvSpPr>
          <p:cNvPr id="7" name="Text 4"/>
          <p:cNvSpPr/>
          <p:nvPr/>
        </p:nvSpPr>
        <p:spPr>
          <a:xfrm>
            <a:off x="502920" y="2706624"/>
            <a:ext cx="2560320" cy="530352"/>
          </a:xfrm>
          <a:prstGeom prst="rect">
            <a:avLst/>
          </a:prstGeom>
          <a:noFill/>
          <a:ln/>
        </p:spPr>
        <p:txBody>
          <a:bodyPr wrap="square" rtlCol="0" anchor="ctr"/>
          <a:lstStyle/>
          <a:p>
            <a:pPr algn="ctr" indent="0" marL="0">
              <a:buNone/>
            </a:pPr>
            <a:r>
              <a:rPr lang="en-US" sz="1300" dirty="0">
                <a:solidFill>
                  <a:srgbClr val="7A92A8"/>
                </a:solidFill>
                <a:latin typeface="Calibri" pitchFamily="34" charset="0"/>
                <a:ea typeface="Calibri" pitchFamily="34" charset="-122"/>
                <a:cs typeface="Calibri" pitchFamily="34" charset="-120"/>
              </a:rPr>
              <a:t>Sickle cell trait</a:t>
            </a:r>
            <a:endParaRPr lang="en-US" sz="1300" dirty="0"/>
          </a:p>
          <a:p>
            <a:pPr algn="ctr" indent="0" marL="0">
              <a:buNone/>
            </a:pPr>
            <a:r>
              <a:rPr lang="en-US" sz="1300" dirty="0">
                <a:solidFill>
                  <a:srgbClr val="7A92A8"/>
                </a:solidFill>
                <a:latin typeface="Calibri" pitchFamily="34" charset="0"/>
                <a:ea typeface="Calibri" pitchFamily="34" charset="-122"/>
                <a:cs typeface="Calibri" pitchFamily="34" charset="-120"/>
              </a:rPr>
              <a:t>prevalence nationally</a:t>
            </a:r>
            <a:endParaRPr lang="en-US" sz="1300" dirty="0"/>
          </a:p>
        </p:txBody>
      </p:sp>
      <p:sp>
        <p:nvSpPr>
          <p:cNvPr id="8" name="Text 5"/>
          <p:cNvSpPr/>
          <p:nvPr/>
        </p:nvSpPr>
        <p:spPr>
          <a:xfrm>
            <a:off x="502920" y="3255264"/>
            <a:ext cx="2560320" cy="256032"/>
          </a:xfrm>
          <a:prstGeom prst="rect">
            <a:avLst/>
          </a:prstGeom>
          <a:noFill/>
          <a:ln/>
        </p:spPr>
        <p:txBody>
          <a:bodyPr wrap="square" rtlCol="0" anchor="ctr"/>
          <a:lstStyle/>
          <a:p>
            <a:pPr algn="ctr" indent="0" marL="0">
              <a:buNone/>
            </a:pPr>
            <a:r>
              <a:rPr lang="en-US" sz="1000" i="1" dirty="0">
                <a:solidFill>
                  <a:srgbClr val="7A92A8"/>
                </a:solidFill>
                <a:latin typeface="Calibri" pitchFamily="34" charset="0"/>
                <a:ea typeface="Calibri" pitchFamily="34" charset="-122"/>
                <a:cs typeface="Calibri" pitchFamily="34" charset="-120"/>
              </a:rPr>
              <a:t>(Tushabe et al., 2024)</a:t>
            </a:r>
            <a:endParaRPr lang="en-US" sz="1000" dirty="0"/>
          </a:p>
        </p:txBody>
      </p:sp>
      <p:sp>
        <p:nvSpPr>
          <p:cNvPr id="9" name="Text 6"/>
          <p:cNvSpPr/>
          <p:nvPr/>
        </p:nvSpPr>
        <p:spPr>
          <a:xfrm>
            <a:off x="3337560" y="1901952"/>
            <a:ext cx="2560320" cy="777240"/>
          </a:xfrm>
          <a:prstGeom prst="rect">
            <a:avLst/>
          </a:prstGeom>
          <a:noFill/>
          <a:ln/>
        </p:spPr>
        <p:txBody>
          <a:bodyPr wrap="square" rtlCol="0" anchor="ctr"/>
          <a:lstStyle/>
          <a:p>
            <a:pPr algn="ctr" indent="0" marL="0">
              <a:buNone/>
            </a:pPr>
            <a:r>
              <a:rPr lang="en-US" sz="4000" b="1" dirty="0">
                <a:solidFill>
                  <a:srgbClr val="1A6B7A"/>
                </a:solidFill>
                <a:latin typeface="Calibri" pitchFamily="34" charset="0"/>
                <a:ea typeface="Calibri" pitchFamily="34" charset="-122"/>
                <a:cs typeface="Calibri" pitchFamily="34" charset="-120"/>
              </a:rPr>
              <a:t>19.8%</a:t>
            </a:r>
            <a:endParaRPr lang="en-US" sz="4000" dirty="0"/>
          </a:p>
        </p:txBody>
      </p:sp>
      <p:sp>
        <p:nvSpPr>
          <p:cNvPr id="10" name="Text 7"/>
          <p:cNvSpPr/>
          <p:nvPr/>
        </p:nvSpPr>
        <p:spPr>
          <a:xfrm>
            <a:off x="3337560" y="2706624"/>
            <a:ext cx="2560320" cy="530352"/>
          </a:xfrm>
          <a:prstGeom prst="rect">
            <a:avLst/>
          </a:prstGeom>
          <a:noFill/>
          <a:ln/>
        </p:spPr>
        <p:txBody>
          <a:bodyPr wrap="square" rtlCol="0" anchor="ctr"/>
          <a:lstStyle/>
          <a:p>
            <a:pPr algn="ctr" indent="0" marL="0">
              <a:buNone/>
            </a:pPr>
            <a:r>
              <a:rPr lang="en-US" sz="1300" dirty="0">
                <a:solidFill>
                  <a:srgbClr val="7A92A8"/>
                </a:solidFill>
                <a:latin typeface="Calibri" pitchFamily="34" charset="0"/>
                <a:ea typeface="Calibri" pitchFamily="34" charset="-122"/>
                <a:cs typeface="Calibri" pitchFamily="34" charset="-120"/>
              </a:rPr>
              <a:t>Prevalence in</a:t>
            </a:r>
            <a:endParaRPr lang="en-US" sz="1300" dirty="0"/>
          </a:p>
          <a:p>
            <a:pPr algn="ctr" indent="0" marL="0">
              <a:buNone/>
            </a:pPr>
            <a:r>
              <a:rPr lang="en-US" sz="1300" dirty="0">
                <a:solidFill>
                  <a:srgbClr val="7A92A8"/>
                </a:solidFill>
                <a:latin typeface="Calibri" pitchFamily="34" charset="0"/>
                <a:ea typeface="Calibri" pitchFamily="34" charset="-122"/>
                <a:cs typeface="Calibri" pitchFamily="34" charset="-120"/>
              </a:rPr>
              <a:t>Kampala alone</a:t>
            </a:r>
            <a:endParaRPr lang="en-US" sz="1300" dirty="0"/>
          </a:p>
        </p:txBody>
      </p:sp>
      <p:sp>
        <p:nvSpPr>
          <p:cNvPr id="11" name="Text 8"/>
          <p:cNvSpPr/>
          <p:nvPr/>
        </p:nvSpPr>
        <p:spPr>
          <a:xfrm>
            <a:off x="3337560" y="3255264"/>
            <a:ext cx="2560320" cy="256032"/>
          </a:xfrm>
          <a:prstGeom prst="rect">
            <a:avLst/>
          </a:prstGeom>
          <a:noFill/>
          <a:ln/>
        </p:spPr>
        <p:txBody>
          <a:bodyPr wrap="square" rtlCol="0" anchor="ctr"/>
          <a:lstStyle/>
          <a:p>
            <a:pPr algn="ctr" indent="0" marL="0">
              <a:buNone/>
            </a:pPr>
            <a:r>
              <a:rPr lang="en-US" sz="1000" i="1" dirty="0">
                <a:solidFill>
                  <a:srgbClr val="7A92A8"/>
                </a:solidFill>
                <a:latin typeface="Calibri" pitchFamily="34" charset="0"/>
                <a:ea typeface="Calibri" pitchFamily="34" charset="-122"/>
                <a:cs typeface="Calibri" pitchFamily="34" charset="-120"/>
              </a:rPr>
              <a:t>(Tushabe et al., 2024)</a:t>
            </a:r>
            <a:endParaRPr lang="en-US" sz="1000" dirty="0"/>
          </a:p>
        </p:txBody>
      </p:sp>
      <p:sp>
        <p:nvSpPr>
          <p:cNvPr id="12" name="Text 9"/>
          <p:cNvSpPr/>
          <p:nvPr/>
        </p:nvSpPr>
        <p:spPr>
          <a:xfrm>
            <a:off x="6172200" y="1901952"/>
            <a:ext cx="2560320" cy="777240"/>
          </a:xfrm>
          <a:prstGeom prst="rect">
            <a:avLst/>
          </a:prstGeom>
          <a:noFill/>
          <a:ln/>
        </p:spPr>
        <p:txBody>
          <a:bodyPr wrap="square" rtlCol="0" anchor="ctr"/>
          <a:lstStyle/>
          <a:p>
            <a:pPr algn="ctr" indent="0" marL="0">
              <a:buNone/>
            </a:pPr>
            <a:r>
              <a:rPr lang="en-US" sz="4000" b="1" dirty="0">
                <a:solidFill>
                  <a:srgbClr val="1A6B7A"/>
                </a:solidFill>
                <a:latin typeface="Calibri" pitchFamily="34" charset="0"/>
                <a:ea typeface="Calibri" pitchFamily="34" charset="-122"/>
                <a:cs typeface="Calibri" pitchFamily="34" charset="-120"/>
              </a:rPr>
              <a:t>20,000+</a:t>
            </a:r>
            <a:endParaRPr lang="en-US" sz="4000" dirty="0"/>
          </a:p>
        </p:txBody>
      </p:sp>
      <p:sp>
        <p:nvSpPr>
          <p:cNvPr id="13" name="Text 10"/>
          <p:cNvSpPr/>
          <p:nvPr/>
        </p:nvSpPr>
        <p:spPr>
          <a:xfrm>
            <a:off x="6172200" y="2706624"/>
            <a:ext cx="2560320" cy="530352"/>
          </a:xfrm>
          <a:prstGeom prst="rect">
            <a:avLst/>
          </a:prstGeom>
          <a:noFill/>
          <a:ln/>
        </p:spPr>
        <p:txBody>
          <a:bodyPr wrap="square" rtlCol="0" anchor="ctr"/>
          <a:lstStyle/>
          <a:p>
            <a:pPr algn="ctr" indent="0" marL="0">
              <a:buNone/>
            </a:pPr>
            <a:r>
              <a:rPr lang="en-US" sz="1300" dirty="0">
                <a:solidFill>
                  <a:srgbClr val="7A92A8"/>
                </a:solidFill>
                <a:latin typeface="Calibri" pitchFamily="34" charset="0"/>
                <a:ea typeface="Calibri" pitchFamily="34" charset="-122"/>
                <a:cs typeface="Calibri" pitchFamily="34" charset="-120"/>
              </a:rPr>
              <a:t>Children born with</a:t>
            </a:r>
            <a:endParaRPr lang="en-US" sz="1300" dirty="0"/>
          </a:p>
          <a:p>
            <a:pPr algn="ctr" indent="0" marL="0">
              <a:buNone/>
            </a:pPr>
            <a:r>
              <a:rPr lang="en-US" sz="1300" dirty="0">
                <a:solidFill>
                  <a:srgbClr val="7A92A8"/>
                </a:solidFill>
                <a:latin typeface="Calibri" pitchFamily="34" charset="0"/>
                <a:ea typeface="Calibri" pitchFamily="34" charset="-122"/>
                <a:cs typeface="Calibri" pitchFamily="34" charset="-120"/>
              </a:rPr>
              <a:t>SCD per year in Uganda</a:t>
            </a:r>
            <a:endParaRPr lang="en-US" sz="1300" dirty="0"/>
          </a:p>
        </p:txBody>
      </p:sp>
      <p:sp>
        <p:nvSpPr>
          <p:cNvPr id="14" name="Text 11"/>
          <p:cNvSpPr/>
          <p:nvPr/>
        </p:nvSpPr>
        <p:spPr>
          <a:xfrm>
            <a:off x="6172200" y="3255264"/>
            <a:ext cx="2560320" cy="256032"/>
          </a:xfrm>
          <a:prstGeom prst="rect">
            <a:avLst/>
          </a:prstGeom>
          <a:noFill/>
          <a:ln/>
        </p:spPr>
        <p:txBody>
          <a:bodyPr wrap="square" rtlCol="0" anchor="ctr"/>
          <a:lstStyle/>
          <a:p>
            <a:pPr algn="ctr" indent="0" marL="0">
              <a:buNone/>
            </a:pPr>
            <a:r>
              <a:rPr lang="en-US" sz="1000" i="1" dirty="0">
                <a:solidFill>
                  <a:srgbClr val="7A92A8"/>
                </a:solidFill>
                <a:latin typeface="Calibri" pitchFamily="34" charset="0"/>
                <a:ea typeface="Calibri" pitchFamily="34" charset="-122"/>
                <a:cs typeface="Calibri" pitchFamily="34" charset="-120"/>
              </a:rPr>
              <a:t>(Tushabe et al., 2024)</a:t>
            </a:r>
            <a:endParaRPr lang="en-US" sz="1000" dirty="0"/>
          </a:p>
        </p:txBody>
      </p:sp>
      <p:sp>
        <p:nvSpPr>
          <p:cNvPr id="15" name="Text 12"/>
          <p:cNvSpPr/>
          <p:nvPr/>
        </p:nvSpPr>
        <p:spPr>
          <a:xfrm>
            <a:off x="502920" y="3456432"/>
            <a:ext cx="8138160" cy="914400"/>
          </a:xfrm>
          <a:prstGeom prst="rect">
            <a:avLst/>
          </a:prstGeom>
          <a:noFill/>
          <a:ln/>
        </p:spPr>
        <p:txBody>
          <a:bodyPr wrap="square" rtlCol="0" anchor="ctr"/>
          <a:lstStyle/>
          <a:p>
            <a:pPr indent="0" marL="0">
              <a:spcAft>
                <a:spcPts val="500"/>
              </a:spcAft>
              <a:buNone/>
            </a:pPr>
            <a:r>
              <a:rPr lang="en-US" sz="1300" dirty="0">
                <a:solidFill>
                  <a:srgbClr val="444444"/>
                </a:solidFill>
                <a:latin typeface="Calibri" pitchFamily="34" charset="0"/>
                <a:ea typeface="Calibri" pitchFamily="34" charset="-122"/>
                <a:cs typeface="Calibri" pitchFamily="34" charset="-120"/>
              </a:rPr>
              <a:t>Current diagnosis depends on haemoglobin electrophoresis and manual microscopic examination — both requiring specialist laboratory infrastructure absent from most rural Ugandan district hospitals (Tushabe et al., 2024). Children in rural areas frequently go undiagnosed for years, missing early prophylactic treatment that prevents life-threatening crises (WHO, 2023).</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Related Work</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658368" cy="475488"/>
          </a:xfrm>
          <a:prstGeom prst="rect">
            <a:avLst/>
          </a:prstGeom>
          <a:solidFill>
            <a:srgbClr val="2C4A6B"/>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2017</a:t>
            </a:r>
            <a:endParaRPr lang="en-US" sz="1200" dirty="0"/>
          </a:p>
        </p:txBody>
      </p:sp>
      <p:sp>
        <p:nvSpPr>
          <p:cNvPr id="6" name="Text 3"/>
          <p:cNvSpPr/>
          <p:nvPr/>
        </p:nvSpPr>
        <p:spPr>
          <a:xfrm>
            <a:off x="1261872" y="914400"/>
            <a:ext cx="2560320" cy="256032"/>
          </a:xfrm>
          <a:prstGeom prst="rect">
            <a:avLst/>
          </a:prstGeom>
          <a:noFill/>
          <a:ln/>
        </p:spPr>
        <p:txBody>
          <a:bodyPr wrap="square" rtlCol="0" anchor="ctr"/>
          <a:lstStyle/>
          <a:p>
            <a:pPr indent="0" marL="0">
              <a:buNone/>
            </a:pPr>
            <a:r>
              <a:rPr lang="en-US" sz="1200" b="1" dirty="0">
                <a:solidFill>
                  <a:srgbClr val="2C4A6B"/>
                </a:solidFill>
                <a:latin typeface="Calibri" pitchFamily="34" charset="0"/>
                <a:ea typeface="Calibri" pitchFamily="34" charset="-122"/>
                <a:cs typeface="Calibri" pitchFamily="34" charset="-120"/>
              </a:rPr>
              <a:t>Esteva et al.</a:t>
            </a:r>
            <a:endParaRPr lang="en-US" sz="1200" dirty="0"/>
          </a:p>
        </p:txBody>
      </p:sp>
      <p:sp>
        <p:nvSpPr>
          <p:cNvPr id="7" name="Text 4"/>
          <p:cNvSpPr/>
          <p:nvPr/>
        </p:nvSpPr>
        <p:spPr>
          <a:xfrm>
            <a:off x="1261872" y="1170432"/>
            <a:ext cx="736092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Demonstrated deep learning achieving dermatologist-level accuracy for skin cancer classification — establishing DL viability in medical imaging.</a:t>
            </a:r>
            <a:endParaRPr lang="en-US" sz="1200" dirty="0"/>
          </a:p>
        </p:txBody>
      </p:sp>
      <p:sp>
        <p:nvSpPr>
          <p:cNvPr id="8" name="Text 5"/>
          <p:cNvSpPr/>
          <p:nvPr/>
        </p:nvSpPr>
        <p:spPr>
          <a:xfrm>
            <a:off x="502920" y="1719072"/>
            <a:ext cx="658368" cy="475488"/>
          </a:xfrm>
          <a:prstGeom prst="rect">
            <a:avLst/>
          </a:prstGeom>
          <a:solidFill>
            <a:srgbClr val="2C4A6B"/>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2018</a:t>
            </a:r>
            <a:endParaRPr lang="en-US" sz="1200" dirty="0"/>
          </a:p>
        </p:txBody>
      </p:sp>
      <p:sp>
        <p:nvSpPr>
          <p:cNvPr id="9" name="Text 6"/>
          <p:cNvSpPr/>
          <p:nvPr/>
        </p:nvSpPr>
        <p:spPr>
          <a:xfrm>
            <a:off x="1261872" y="1737360"/>
            <a:ext cx="2560320" cy="256032"/>
          </a:xfrm>
          <a:prstGeom prst="rect">
            <a:avLst/>
          </a:prstGeom>
          <a:noFill/>
          <a:ln/>
        </p:spPr>
        <p:txBody>
          <a:bodyPr wrap="square" rtlCol="0" anchor="ctr"/>
          <a:lstStyle/>
          <a:p>
            <a:pPr indent="0" marL="0">
              <a:buNone/>
            </a:pPr>
            <a:r>
              <a:rPr lang="en-US" sz="1200" b="1" dirty="0">
                <a:solidFill>
                  <a:srgbClr val="2C4A6B"/>
                </a:solidFill>
                <a:latin typeface="Calibri" pitchFamily="34" charset="0"/>
                <a:ea typeface="Calibri" pitchFamily="34" charset="-122"/>
                <a:cs typeface="Calibri" pitchFamily="34" charset="-120"/>
              </a:rPr>
              <a:t>Poostchi et al.</a:t>
            </a:r>
            <a:endParaRPr lang="en-US" sz="1200" dirty="0"/>
          </a:p>
        </p:txBody>
      </p:sp>
      <p:sp>
        <p:nvSpPr>
          <p:cNvPr id="10" name="Text 7"/>
          <p:cNvSpPr/>
          <p:nvPr/>
        </p:nvSpPr>
        <p:spPr>
          <a:xfrm>
            <a:off x="1261872" y="1993392"/>
            <a:ext cx="736092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Reviewed automated image analysis approaches for malaria parasite detection in blood smears and validated mobile-phone microscopy as a feasible imaging platform for deep learning.</a:t>
            </a:r>
            <a:endParaRPr lang="en-US" sz="1200" dirty="0"/>
          </a:p>
        </p:txBody>
      </p:sp>
      <p:sp>
        <p:nvSpPr>
          <p:cNvPr id="11" name="Text 8"/>
          <p:cNvSpPr/>
          <p:nvPr/>
        </p:nvSpPr>
        <p:spPr>
          <a:xfrm>
            <a:off x="502920" y="2542032"/>
            <a:ext cx="658368" cy="475488"/>
          </a:xfrm>
          <a:prstGeom prst="rect">
            <a:avLst/>
          </a:prstGeom>
          <a:solidFill>
            <a:srgbClr val="2C4A6B"/>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2020</a:t>
            </a:r>
            <a:endParaRPr lang="en-US" sz="1200" dirty="0"/>
          </a:p>
        </p:txBody>
      </p:sp>
      <p:sp>
        <p:nvSpPr>
          <p:cNvPr id="12" name="Text 9"/>
          <p:cNvSpPr/>
          <p:nvPr/>
        </p:nvSpPr>
        <p:spPr>
          <a:xfrm>
            <a:off x="1261872" y="2560320"/>
            <a:ext cx="2560320" cy="256032"/>
          </a:xfrm>
          <a:prstGeom prst="rect">
            <a:avLst/>
          </a:prstGeom>
          <a:noFill/>
          <a:ln/>
        </p:spPr>
        <p:txBody>
          <a:bodyPr wrap="square" rtlCol="0" anchor="ctr"/>
          <a:lstStyle/>
          <a:p>
            <a:pPr indent="0" marL="0">
              <a:buNone/>
            </a:pPr>
            <a:r>
              <a:rPr lang="en-US" sz="1200" b="1" dirty="0">
                <a:solidFill>
                  <a:srgbClr val="2C4A6B"/>
                </a:solidFill>
                <a:latin typeface="Calibri" pitchFamily="34" charset="0"/>
                <a:ea typeface="Calibri" pitchFamily="34" charset="-122"/>
                <a:cs typeface="Calibri" pitchFamily="34" charset="-120"/>
              </a:rPr>
              <a:t>Acevedo et al.</a:t>
            </a:r>
            <a:endParaRPr lang="en-US" sz="1200" dirty="0"/>
          </a:p>
        </p:txBody>
      </p:sp>
      <p:sp>
        <p:nvSpPr>
          <p:cNvPr id="13" name="Text 10"/>
          <p:cNvSpPr/>
          <p:nvPr/>
        </p:nvSpPr>
        <p:spPr>
          <a:xfrm>
            <a:off x="1261872" y="2816352"/>
            <a:ext cx="736092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Published 17,092 annotated peripheral blood cell images and demonstrated automated classification across eight cell types using deep learning.</a:t>
            </a:r>
            <a:endParaRPr lang="en-US" sz="1200" dirty="0"/>
          </a:p>
        </p:txBody>
      </p:sp>
      <p:sp>
        <p:nvSpPr>
          <p:cNvPr id="14" name="Text 11"/>
          <p:cNvSpPr/>
          <p:nvPr/>
        </p:nvSpPr>
        <p:spPr>
          <a:xfrm>
            <a:off x="502920" y="3364992"/>
            <a:ext cx="658368" cy="475488"/>
          </a:xfrm>
          <a:prstGeom prst="rect">
            <a:avLst/>
          </a:prstGeom>
          <a:solidFill>
            <a:srgbClr val="1A6B7A"/>
          </a:solid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2026</a:t>
            </a:r>
            <a:endParaRPr lang="en-US" sz="1200" dirty="0"/>
          </a:p>
        </p:txBody>
      </p:sp>
      <p:sp>
        <p:nvSpPr>
          <p:cNvPr id="15" name="Text 12"/>
          <p:cNvSpPr/>
          <p:nvPr/>
        </p:nvSpPr>
        <p:spPr>
          <a:xfrm>
            <a:off x="1261872" y="3383280"/>
            <a:ext cx="2560320" cy="256032"/>
          </a:xfrm>
          <a:prstGeom prst="rect">
            <a:avLst/>
          </a:prstGeom>
          <a:noFill/>
          <a:ln/>
        </p:spPr>
        <p:txBody>
          <a:bodyPr wrap="square" rtlCol="0" anchor="ctr"/>
          <a:lstStyle/>
          <a:p>
            <a:pPr indent="0" marL="0">
              <a:buNone/>
            </a:pPr>
            <a:r>
              <a:rPr lang="en-US" sz="1200" b="1" dirty="0">
                <a:solidFill>
                  <a:srgbClr val="1A6B7A"/>
                </a:solidFill>
                <a:latin typeface="Calibri" pitchFamily="34" charset="0"/>
                <a:ea typeface="Calibri" pitchFamily="34" charset="-122"/>
                <a:cs typeface="Calibri" pitchFamily="34" charset="-120"/>
              </a:rPr>
              <a:t>Okidi Patrovas Gabriel — This Study</a:t>
            </a:r>
            <a:endParaRPr lang="en-US" sz="1200" dirty="0"/>
          </a:p>
        </p:txBody>
      </p:sp>
      <p:sp>
        <p:nvSpPr>
          <p:cNvPr id="16" name="Text 13"/>
          <p:cNvSpPr/>
          <p:nvPr/>
        </p:nvSpPr>
        <p:spPr>
          <a:xfrm>
            <a:off x="1261872" y="3639312"/>
            <a:ext cx="7360920" cy="438912"/>
          </a:xfrm>
          <a:prstGeom prst="rect">
            <a:avLst/>
          </a:prstGeom>
          <a:noFill/>
          <a:ln/>
        </p:spPr>
        <p:txBody>
          <a:bodyPr wrap="square" rtlCol="0" anchor="ctr"/>
          <a:lstStyle/>
          <a:p>
            <a:pPr indent="0" marL="0">
              <a:buNone/>
            </a:pPr>
            <a:r>
              <a:rPr lang="en-US" sz="1200" dirty="0">
                <a:solidFill>
                  <a:srgbClr val="444444"/>
                </a:solidFill>
                <a:latin typeface="Calibri" pitchFamily="34" charset="0"/>
                <a:ea typeface="Calibri" pitchFamily="34" charset="-122"/>
                <a:cs typeface="Calibri" pitchFamily="34" charset="-120"/>
              </a:rPr>
              <a:t>First deep learning study to detect sickle cell disease from the Tushabe (2024) dataset — the only sickle cell images collected from Ugandan patients using mobile phone microscopes under real clinical conditions. ResNet-50 achieved 98.57% accuracy.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Research Gap</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960120"/>
            <a:ext cx="365760" cy="594360"/>
          </a:xfrm>
          <a:prstGeom prst="rect">
            <a:avLst/>
          </a:prstGeom>
          <a:noFill/>
          <a:ln/>
        </p:spPr>
        <p:txBody>
          <a:bodyPr wrap="square" rtlCol="0" anchor="ctr"/>
          <a:lstStyle/>
          <a:p>
            <a:pPr indent="0" marL="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6" name="Text 3"/>
          <p:cNvSpPr/>
          <p:nvPr/>
        </p:nvSpPr>
        <p:spPr>
          <a:xfrm>
            <a:off x="960120" y="960120"/>
            <a:ext cx="7772400" cy="685800"/>
          </a:xfrm>
          <a:prstGeom prst="rect">
            <a:avLst/>
          </a:prstGeom>
          <a:noFill/>
          <a:ln/>
        </p:spPr>
        <p:txBody>
          <a:bodyPr wrap="square" rtlCol="0" anchor="ctr"/>
          <a:lstStyle/>
          <a:p>
            <a:pPr indent="0" marL="0">
              <a:buNone/>
            </a:pPr>
            <a:r>
              <a:rPr lang="en-US" sz="1350" dirty="0">
                <a:solidFill>
                  <a:srgbClr val="0B1F3A"/>
                </a:solidFill>
                <a:latin typeface="Calibri" pitchFamily="34" charset="0"/>
                <a:ea typeface="Calibri" pitchFamily="34" charset="-122"/>
                <a:cs typeface="Calibri" pitchFamily="34" charset="-120"/>
              </a:rPr>
              <a:t>All prior sickle cell detection studies used datasets from controlled laboratory settings in high-income countries — none used mobile-phone microscopy from real Ugandan clinical settings.</a:t>
            </a:r>
            <a:endParaRPr lang="en-US" sz="1350" dirty="0"/>
          </a:p>
        </p:txBody>
      </p:sp>
      <p:sp>
        <p:nvSpPr>
          <p:cNvPr id="7" name="Text 4"/>
          <p:cNvSpPr/>
          <p:nvPr/>
        </p:nvSpPr>
        <p:spPr>
          <a:xfrm>
            <a:off x="502920" y="1920240"/>
            <a:ext cx="365760" cy="594360"/>
          </a:xfrm>
          <a:prstGeom prst="rect">
            <a:avLst/>
          </a:prstGeom>
          <a:noFill/>
          <a:ln/>
        </p:spPr>
        <p:txBody>
          <a:bodyPr wrap="square" rtlCol="0" anchor="ctr"/>
          <a:lstStyle/>
          <a:p>
            <a:pPr indent="0" marL="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8" name="Text 5"/>
          <p:cNvSpPr/>
          <p:nvPr/>
        </p:nvSpPr>
        <p:spPr>
          <a:xfrm>
            <a:off x="960120" y="1920240"/>
            <a:ext cx="7772400" cy="685800"/>
          </a:xfrm>
          <a:prstGeom prst="rect">
            <a:avLst/>
          </a:prstGeom>
          <a:noFill/>
          <a:ln/>
        </p:spPr>
        <p:txBody>
          <a:bodyPr wrap="square" rtlCol="0" anchor="ctr"/>
          <a:lstStyle/>
          <a:p>
            <a:pPr indent="0" marL="0">
              <a:buNone/>
            </a:pPr>
            <a:r>
              <a:rPr lang="en-US" sz="1350" dirty="0">
                <a:solidFill>
                  <a:srgbClr val="0B1F3A"/>
                </a:solidFill>
                <a:latin typeface="Calibri" pitchFamily="34" charset="0"/>
                <a:ea typeface="Calibri" pitchFamily="34" charset="-122"/>
                <a:cs typeface="Calibri" pitchFamily="34" charset="-120"/>
              </a:rPr>
              <a:t>No deep learning study had been applied to the Tushabe et al. (2024) dataset — the only published sickle cell blood smear dataset collected from Ugandan patients.</a:t>
            </a:r>
            <a:endParaRPr lang="en-US" sz="1350" dirty="0"/>
          </a:p>
        </p:txBody>
      </p:sp>
      <p:sp>
        <p:nvSpPr>
          <p:cNvPr id="9" name="Text 6"/>
          <p:cNvSpPr/>
          <p:nvPr/>
        </p:nvSpPr>
        <p:spPr>
          <a:xfrm>
            <a:off x="502920" y="2880360"/>
            <a:ext cx="365760" cy="594360"/>
          </a:xfrm>
          <a:prstGeom prst="rect">
            <a:avLst/>
          </a:prstGeom>
          <a:noFill/>
          <a:ln/>
        </p:spPr>
        <p:txBody>
          <a:bodyPr wrap="square" rtlCol="0" anchor="ctr"/>
          <a:lstStyle/>
          <a:p>
            <a:pPr indent="0" marL="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960120" y="2880360"/>
            <a:ext cx="7772400" cy="685800"/>
          </a:xfrm>
          <a:prstGeom prst="rect">
            <a:avLst/>
          </a:prstGeom>
          <a:noFill/>
          <a:ln/>
        </p:spPr>
        <p:txBody>
          <a:bodyPr wrap="square" rtlCol="0" anchor="ctr"/>
          <a:lstStyle/>
          <a:p>
            <a:pPr indent="0" marL="0">
              <a:buNone/>
            </a:pPr>
            <a:r>
              <a:rPr lang="en-US" sz="1350" dirty="0">
                <a:solidFill>
                  <a:srgbClr val="0B1F3A"/>
                </a:solidFill>
                <a:latin typeface="Calibri" pitchFamily="34" charset="0"/>
                <a:ea typeface="Calibri" pitchFamily="34" charset="-122"/>
                <a:cs typeface="Calibri" pitchFamily="34" charset="-120"/>
              </a:rPr>
              <a:t>No study had used Grad-CAM explainability to verify that a sickle cell model attends to genuine cell morphology rather than imaging artefacts.</a:t>
            </a:r>
            <a:endParaRPr lang="en-US" sz="1350" dirty="0"/>
          </a:p>
        </p:txBody>
      </p:sp>
      <p:sp>
        <p:nvSpPr>
          <p:cNvPr id="11" name="Text 8"/>
          <p:cNvSpPr/>
          <p:nvPr/>
        </p:nvSpPr>
        <p:spPr>
          <a:xfrm>
            <a:off x="502920" y="3840480"/>
            <a:ext cx="365760" cy="594360"/>
          </a:xfrm>
          <a:prstGeom prst="rect">
            <a:avLst/>
          </a:prstGeom>
          <a:noFill/>
          <a:ln/>
        </p:spPr>
        <p:txBody>
          <a:bodyPr wrap="square" rtlCol="0" anchor="ctr"/>
          <a:lstStyle/>
          <a:p>
            <a:pPr indent="0" marL="0">
              <a:buNone/>
            </a:pPr>
            <a:r>
              <a:rPr lang="en-US" sz="2000" b="1" dirty="0">
                <a:solidFill>
                  <a:srgbClr val="1DB3A4"/>
                </a:solidFill>
                <a:latin typeface="Calibri" pitchFamily="34" charset="0"/>
                <a:ea typeface="Calibri" pitchFamily="34" charset="-122"/>
                <a:cs typeface="Calibri" pitchFamily="34" charset="-120"/>
              </a:rPr>
              <a:t>→</a:t>
            </a:r>
            <a:endParaRPr lang="en-US" sz="2000" dirty="0"/>
          </a:p>
        </p:txBody>
      </p:sp>
      <p:sp>
        <p:nvSpPr>
          <p:cNvPr id="12" name="Text 9"/>
          <p:cNvSpPr/>
          <p:nvPr/>
        </p:nvSpPr>
        <p:spPr>
          <a:xfrm>
            <a:off x="960120" y="3840480"/>
            <a:ext cx="7772400" cy="685800"/>
          </a:xfrm>
          <a:prstGeom prst="rect">
            <a:avLst/>
          </a:prstGeom>
          <a:noFill/>
          <a:ln/>
        </p:spPr>
        <p:txBody>
          <a:bodyPr wrap="square" rtlCol="0" anchor="ctr"/>
          <a:lstStyle/>
          <a:p>
            <a:pPr indent="0" marL="0">
              <a:buNone/>
            </a:pPr>
            <a:r>
              <a:rPr lang="en-US" sz="1350" dirty="0">
                <a:solidFill>
                  <a:srgbClr val="0B1F3A"/>
                </a:solidFill>
                <a:latin typeface="Calibri" pitchFamily="34" charset="0"/>
                <a:ea typeface="Calibri" pitchFamily="34" charset="-122"/>
                <a:cs typeface="Calibri" pitchFamily="34" charset="-120"/>
              </a:rPr>
              <a:t>No deployed screening tool existed for non-specialist health workers in low-resource African settings using mobile-phone microscopy.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alphaModFix amt="18000"/>
          </a:blip>
          <a:stretch>
            <a:fillRect/>
          </a:stretch>
        </p:blipFill>
        <p:spPr>
          <a:xfrm>
            <a:off x="0" y="0"/>
            <a:ext cx="9144000" cy="5148072"/>
          </a:xfrm>
          <a:prstGeom prst="rect">
            <a:avLst/>
          </a:prstGeom>
        </p:spPr>
      </p:pic>
      <p:sp>
        <p:nvSpPr>
          <p:cNvPr id="4" name="Shape 0"/>
          <p:cNvSpPr/>
          <p:nvPr/>
        </p:nvSpPr>
        <p:spPr>
          <a:xfrm>
            <a:off x="0" y="0"/>
            <a:ext cx="9144000" cy="5148072"/>
          </a:xfrm>
          <a:prstGeom prst="rect">
            <a:avLst/>
          </a:prstGeom>
          <a:solidFill>
            <a:srgbClr val="0B1F3A">
              <a:alpha val="45000"/>
            </a:srgbClr>
          </a:solidFill>
          <a:ln w="12700">
            <a:solidFill>
              <a:srgbClr val="0B1F3A">
                <a:alpha val="45000"/>
              </a:srgbClr>
            </a:solidFill>
            <a:prstDash val="solid"/>
          </a:ln>
        </p:spPr>
      </p:sp>
      <p:sp>
        <p:nvSpPr>
          <p:cNvPr id="5" name="Text 1"/>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6" name="Shape 2"/>
          <p:cNvSpPr/>
          <p:nvPr/>
        </p:nvSpPr>
        <p:spPr>
          <a:xfrm>
            <a:off x="502920" y="694944"/>
            <a:ext cx="8138160" cy="25603"/>
          </a:xfrm>
          <a:prstGeom prst="rect">
            <a:avLst/>
          </a:prstGeom>
          <a:solidFill>
            <a:srgbClr val="1DB3A4"/>
          </a:solidFill>
          <a:ln w="12700">
            <a:solidFill>
              <a:srgbClr val="1DB3A4"/>
            </a:solidFill>
            <a:prstDash val="solid"/>
          </a:ln>
        </p:spPr>
      </p:sp>
      <p:sp>
        <p:nvSpPr>
          <p:cNvPr id="7" name="Text 3"/>
          <p:cNvSpPr/>
          <p:nvPr/>
        </p:nvSpPr>
        <p:spPr>
          <a:xfrm>
            <a:off x="1097280" y="1371600"/>
            <a:ext cx="6949440" cy="2743200"/>
          </a:xfrm>
          <a:prstGeom prst="rect">
            <a:avLst/>
          </a:prstGeom>
          <a:noFill/>
          <a:ln/>
        </p:spPr>
        <p:txBody>
          <a:bodyPr wrap="square" rtlCol="0" anchor="ctr"/>
          <a:lstStyle/>
          <a:p>
            <a:pPr algn="ctr" indent="0" marL="0">
              <a:spcAft>
                <a:spcPts val="1000"/>
              </a:spcAft>
              <a:buNone/>
            </a:pPr>
            <a:r>
              <a:rPr lang="en-US" sz="1900" dirty="0">
                <a:solidFill>
                  <a:srgbClr val="FFFFFF"/>
                </a:solidFill>
                <a:latin typeface="Calibri" pitchFamily="34" charset="0"/>
                <a:ea typeface="Calibri" pitchFamily="34" charset="-122"/>
                <a:cs typeface="Calibri" pitchFamily="34" charset="-120"/>
              </a:rPr>
              <a:t>Sickle cell disease remains largely undiagnosed in rural Uganda because current diagnostic methods require trained laboratory personnel and specialist equipment that most district health facilities do not have. Community health workers lack the tools to identify affected patients at the point of care, delaying treatment and contributing to preventable morbidity and mortality among children who could otherwise be managed effectively with early intervention.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Research Objectives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138160" cy="274320"/>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Main Objective</a:t>
            </a:r>
            <a:endParaRPr lang="en-US" sz="1300" dirty="0"/>
          </a:p>
        </p:txBody>
      </p:sp>
      <p:sp>
        <p:nvSpPr>
          <p:cNvPr id="6" name="Text 3"/>
          <p:cNvSpPr/>
          <p:nvPr/>
        </p:nvSpPr>
        <p:spPr>
          <a:xfrm>
            <a:off x="502920" y="1188720"/>
            <a:ext cx="8138160" cy="658368"/>
          </a:xfrm>
          <a:prstGeom prst="rect">
            <a:avLst/>
          </a:prstGeom>
          <a:noFill/>
          <a:ln/>
        </p:spPr>
        <p:txBody>
          <a:bodyPr wrap="square" rtlCol="0" anchor="ctr"/>
          <a:lstStyle/>
          <a:p>
            <a:pPr indent="0" marL="0">
              <a:buNone/>
            </a:pPr>
            <a:r>
              <a:rPr lang="en-US" sz="1300" dirty="0">
                <a:solidFill>
                  <a:srgbClr val="0B1F3A"/>
                </a:solidFill>
                <a:latin typeface="Calibri" pitchFamily="34" charset="0"/>
                <a:ea typeface="Calibri" pitchFamily="34" charset="-122"/>
                <a:cs typeface="Calibri" pitchFamily="34" charset="-120"/>
              </a:rPr>
              <a:t>To develop an automated, explainable sickle cell detection system from peripheral blood smear images captured using mobile phone cameras on basic microscopes, enabling early identification of sickle cell disease in rural Ugandan health settings.</a:t>
            </a:r>
            <a:endParaRPr lang="en-US" sz="1300" dirty="0"/>
          </a:p>
        </p:txBody>
      </p:sp>
      <p:sp>
        <p:nvSpPr>
          <p:cNvPr id="7" name="Text 4"/>
          <p:cNvSpPr/>
          <p:nvPr/>
        </p:nvSpPr>
        <p:spPr>
          <a:xfrm>
            <a:off x="502920" y="1965960"/>
            <a:ext cx="8138160" cy="274320"/>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Specific Objectives</a:t>
            </a:r>
            <a:endParaRPr lang="en-US" sz="1300" dirty="0"/>
          </a:p>
        </p:txBody>
      </p:sp>
      <p:sp>
        <p:nvSpPr>
          <p:cNvPr id="8" name="Text 5"/>
          <p:cNvSpPr/>
          <p:nvPr/>
        </p:nvSpPr>
        <p:spPr>
          <a:xfrm>
            <a:off x="502920" y="2331720"/>
            <a:ext cx="320040" cy="402336"/>
          </a:xfrm>
          <a:prstGeom prst="rect">
            <a:avLst/>
          </a:prstGeom>
          <a:noFill/>
          <a:ln/>
        </p:spPr>
        <p:txBody>
          <a:bodyPr wrap="square" rtlCol="0" anchor="ctr"/>
          <a:lstStyle/>
          <a:p>
            <a:pPr indent="0" marL="0">
              <a:buNone/>
            </a:pPr>
            <a:r>
              <a:rPr lang="en-US" sz="1300" b="1" dirty="0">
                <a:solidFill>
                  <a:srgbClr val="1DB3A4"/>
                </a:solidFill>
                <a:latin typeface="Calibri" pitchFamily="34" charset="0"/>
                <a:ea typeface="Calibri" pitchFamily="34" charset="-122"/>
                <a:cs typeface="Calibri" pitchFamily="34" charset="-120"/>
              </a:rPr>
              <a:t>1.</a:t>
            </a:r>
            <a:endParaRPr lang="en-US" sz="1300" dirty="0"/>
          </a:p>
        </p:txBody>
      </p:sp>
      <p:sp>
        <p:nvSpPr>
          <p:cNvPr id="9" name="Text 6"/>
          <p:cNvSpPr/>
          <p:nvPr/>
        </p:nvSpPr>
        <p:spPr>
          <a:xfrm>
            <a:off x="868680" y="2331720"/>
            <a:ext cx="781812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Develop and evaluate a baseline CNN trained from scratch as a performance floor</a:t>
            </a:r>
            <a:endParaRPr lang="en-US" sz="1250" dirty="0"/>
          </a:p>
        </p:txBody>
      </p:sp>
      <p:sp>
        <p:nvSpPr>
          <p:cNvPr id="10" name="Text 7"/>
          <p:cNvSpPr/>
          <p:nvPr/>
        </p:nvSpPr>
        <p:spPr>
          <a:xfrm>
            <a:off x="502920" y="2834640"/>
            <a:ext cx="320040" cy="402336"/>
          </a:xfrm>
          <a:prstGeom prst="rect">
            <a:avLst/>
          </a:prstGeom>
          <a:noFill/>
          <a:ln/>
        </p:spPr>
        <p:txBody>
          <a:bodyPr wrap="square" rtlCol="0" anchor="ctr"/>
          <a:lstStyle/>
          <a:p>
            <a:pPr indent="0" marL="0">
              <a:buNone/>
            </a:pPr>
            <a:r>
              <a:rPr lang="en-US" sz="1300" b="1" dirty="0">
                <a:solidFill>
                  <a:srgbClr val="1DB3A4"/>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868680" y="2834640"/>
            <a:ext cx="781812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Apply transfer learning using EfficientNet-B0 and ResNet-50 pretrained on ImageNet</a:t>
            </a:r>
            <a:endParaRPr lang="en-US" sz="1250" dirty="0"/>
          </a:p>
        </p:txBody>
      </p:sp>
      <p:sp>
        <p:nvSpPr>
          <p:cNvPr id="12" name="Text 9"/>
          <p:cNvSpPr/>
          <p:nvPr/>
        </p:nvSpPr>
        <p:spPr>
          <a:xfrm>
            <a:off x="502920" y="3337560"/>
            <a:ext cx="320040" cy="402336"/>
          </a:xfrm>
          <a:prstGeom prst="rect">
            <a:avLst/>
          </a:prstGeom>
          <a:noFill/>
          <a:ln/>
        </p:spPr>
        <p:txBody>
          <a:bodyPr wrap="square" rtlCol="0" anchor="ctr"/>
          <a:lstStyle/>
          <a:p>
            <a:pPr indent="0" marL="0">
              <a:buNone/>
            </a:pPr>
            <a:r>
              <a:rPr lang="en-US" sz="1300" b="1" dirty="0">
                <a:solidFill>
                  <a:srgbClr val="1DB3A4"/>
                </a:solidFill>
                <a:latin typeface="Calibri" pitchFamily="34" charset="0"/>
                <a:ea typeface="Calibri" pitchFamily="34" charset="-122"/>
                <a:cs typeface="Calibri" pitchFamily="34" charset="-120"/>
              </a:rPr>
              <a:t>3.</a:t>
            </a:r>
            <a:endParaRPr lang="en-US" sz="1300" dirty="0"/>
          </a:p>
        </p:txBody>
      </p:sp>
      <p:sp>
        <p:nvSpPr>
          <p:cNvPr id="13" name="Text 10"/>
          <p:cNvSpPr/>
          <p:nvPr/>
        </p:nvSpPr>
        <p:spPr>
          <a:xfrm>
            <a:off x="868680" y="3337560"/>
            <a:ext cx="781812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Compare frozen versus unfrozen backbone strategies across both transfer learning models</a:t>
            </a:r>
            <a:endParaRPr lang="en-US" sz="1250" dirty="0"/>
          </a:p>
        </p:txBody>
      </p:sp>
      <p:sp>
        <p:nvSpPr>
          <p:cNvPr id="14" name="Text 11"/>
          <p:cNvSpPr/>
          <p:nvPr/>
        </p:nvSpPr>
        <p:spPr>
          <a:xfrm>
            <a:off x="502920" y="3840480"/>
            <a:ext cx="320040" cy="402336"/>
          </a:xfrm>
          <a:prstGeom prst="rect">
            <a:avLst/>
          </a:prstGeom>
          <a:noFill/>
          <a:ln/>
        </p:spPr>
        <p:txBody>
          <a:bodyPr wrap="square" rtlCol="0" anchor="ctr"/>
          <a:lstStyle/>
          <a:p>
            <a:pPr indent="0" marL="0">
              <a:buNone/>
            </a:pPr>
            <a:r>
              <a:rPr lang="en-US" sz="1300" b="1" dirty="0">
                <a:solidFill>
                  <a:srgbClr val="1DB3A4"/>
                </a:solidFill>
                <a:latin typeface="Calibri" pitchFamily="34" charset="0"/>
                <a:ea typeface="Calibri" pitchFamily="34" charset="-122"/>
                <a:cs typeface="Calibri" pitchFamily="34" charset="-120"/>
              </a:rPr>
              <a:t>4.</a:t>
            </a:r>
            <a:endParaRPr lang="en-US" sz="1300" dirty="0"/>
          </a:p>
        </p:txBody>
      </p:sp>
      <p:sp>
        <p:nvSpPr>
          <p:cNvPr id="15" name="Text 12"/>
          <p:cNvSpPr/>
          <p:nvPr/>
        </p:nvSpPr>
        <p:spPr>
          <a:xfrm>
            <a:off x="868680" y="3840480"/>
            <a:ext cx="781812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Apply Grad-CAM explainability to verify model decisions are biologically meaningful</a:t>
            </a:r>
            <a:endParaRPr lang="en-US" sz="1250" dirty="0"/>
          </a:p>
        </p:txBody>
      </p:sp>
      <p:sp>
        <p:nvSpPr>
          <p:cNvPr id="16" name="Text 13"/>
          <p:cNvSpPr/>
          <p:nvPr/>
        </p:nvSpPr>
        <p:spPr>
          <a:xfrm>
            <a:off x="502920" y="4343400"/>
            <a:ext cx="320040" cy="402336"/>
          </a:xfrm>
          <a:prstGeom prst="rect">
            <a:avLst/>
          </a:prstGeom>
          <a:noFill/>
          <a:ln/>
        </p:spPr>
        <p:txBody>
          <a:bodyPr wrap="square" rtlCol="0" anchor="ctr"/>
          <a:lstStyle/>
          <a:p>
            <a:pPr indent="0" marL="0">
              <a:buNone/>
            </a:pPr>
            <a:r>
              <a:rPr lang="en-US" sz="1300" b="1" dirty="0">
                <a:solidFill>
                  <a:srgbClr val="1DB3A4"/>
                </a:solidFill>
                <a:latin typeface="Calibri" pitchFamily="34" charset="0"/>
                <a:ea typeface="Calibri" pitchFamily="34" charset="-122"/>
                <a:cs typeface="Calibri" pitchFamily="34" charset="-120"/>
              </a:rPr>
              <a:t>5.</a:t>
            </a:r>
            <a:endParaRPr lang="en-US" sz="1300" dirty="0"/>
          </a:p>
        </p:txBody>
      </p:sp>
      <p:sp>
        <p:nvSpPr>
          <p:cNvPr id="17" name="Text 14"/>
          <p:cNvSpPr/>
          <p:nvPr/>
        </p:nvSpPr>
        <p:spPr>
          <a:xfrm>
            <a:off x="868680" y="4343400"/>
            <a:ext cx="781812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Deploy the best model as a Gradio application accessible to non-specialist health workers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Dataset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229600" cy="29260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Primary Dataset — Positive Class</a:t>
            </a:r>
            <a:endParaRPr lang="en-US" sz="1400" dirty="0"/>
          </a:p>
        </p:txBody>
      </p:sp>
      <p:sp>
        <p:nvSpPr>
          <p:cNvPr id="6" name="Text 3"/>
          <p:cNvSpPr/>
          <p:nvPr/>
        </p:nvSpPr>
        <p:spPr>
          <a:xfrm>
            <a:off x="502920" y="1207008"/>
            <a:ext cx="8138160" cy="59436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Tushabe et al. (2024) Ugandan Sickle Cell Microscopy Dataset. Blood smear images collected from patients in Soroti and Kumi districts, Uganda, using mobile phone cameras placed on basic optical microscopes. Published in Acta Scientific Microbiology, Vol. 7, Issue 12.</a:t>
            </a:r>
            <a:endParaRPr lang="en-US" sz="1300" dirty="0"/>
          </a:p>
        </p:txBody>
      </p:sp>
      <p:sp>
        <p:nvSpPr>
          <p:cNvPr id="7" name="Text 4"/>
          <p:cNvSpPr/>
          <p:nvPr/>
        </p:nvSpPr>
        <p:spPr>
          <a:xfrm>
            <a:off x="502920" y="1810512"/>
            <a:ext cx="8138160" cy="256032"/>
          </a:xfrm>
          <a:prstGeom prst="rect">
            <a:avLst/>
          </a:prstGeom>
          <a:noFill/>
          <a:ln/>
        </p:spPr>
        <p:txBody>
          <a:bodyPr wrap="square" rtlCol="0" anchor="ctr"/>
          <a:lstStyle/>
          <a:p>
            <a:pPr indent="0" marL="0">
              <a:buNone/>
            </a:pPr>
            <a:r>
              <a:rPr lang="en-US" sz="1100" i="1" dirty="0">
                <a:solidFill>
                  <a:srgbClr val="1A6B7A"/>
                </a:solidFill>
                <a:latin typeface="Calibri" pitchFamily="34" charset="0"/>
                <a:ea typeface="Calibri" pitchFamily="34" charset="-122"/>
                <a:cs typeface="Calibri" pitchFamily="34" charset="-120"/>
              </a:rPr>
              <a:t>https://www.kaggle.com/datasets/florencetushabe/sickle-cell-disease-dataset</a:t>
            </a:r>
            <a:endParaRPr lang="en-US" sz="1100" dirty="0"/>
          </a:p>
        </p:txBody>
      </p:sp>
      <p:sp>
        <p:nvSpPr>
          <p:cNvPr id="8" name="Text 5"/>
          <p:cNvSpPr/>
          <p:nvPr/>
        </p:nvSpPr>
        <p:spPr>
          <a:xfrm>
            <a:off x="502920" y="2212848"/>
            <a:ext cx="8229600" cy="29260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Supplementary Dataset — Normal Class</a:t>
            </a:r>
            <a:endParaRPr lang="en-US" sz="1400" dirty="0"/>
          </a:p>
        </p:txBody>
      </p:sp>
      <p:sp>
        <p:nvSpPr>
          <p:cNvPr id="9" name="Text 6"/>
          <p:cNvSpPr/>
          <p:nvPr/>
        </p:nvSpPr>
        <p:spPr>
          <a:xfrm>
            <a:off x="502920" y="2523744"/>
            <a:ext cx="8138160" cy="502920"/>
          </a:xfrm>
          <a:prstGeom prst="rect">
            <a:avLst/>
          </a:prstGeom>
          <a:noFill/>
          <a:ln/>
        </p:spPr>
        <p:txBody>
          <a:bodyPr wrap="square" rtlCol="0" anchor="ctr"/>
          <a:lstStyle/>
          <a:p>
            <a:pPr indent="0" marL="0">
              <a:buNone/>
            </a:pPr>
            <a:r>
              <a:rPr lang="en-US" sz="1300" dirty="0">
                <a:solidFill>
                  <a:srgbClr val="333333"/>
                </a:solidFill>
                <a:latin typeface="Calibri" pitchFamily="34" charset="0"/>
                <a:ea typeface="Calibri" pitchFamily="34" charset="-122"/>
                <a:cs typeface="Calibri" pitchFamily="34" charset="-120"/>
              </a:rPr>
              <a:t>BCCD Dataset (Shenggan et al.). 364 normal peripheral blood smear images captured under controlled laboratory conditions. MIT licence — freely usable for research.</a:t>
            </a:r>
            <a:endParaRPr lang="en-US" sz="1300" dirty="0"/>
          </a:p>
        </p:txBody>
      </p:sp>
      <p:sp>
        <p:nvSpPr>
          <p:cNvPr id="10" name="Text 7"/>
          <p:cNvSpPr/>
          <p:nvPr/>
        </p:nvSpPr>
        <p:spPr>
          <a:xfrm>
            <a:off x="502920" y="3035808"/>
            <a:ext cx="8138160" cy="256032"/>
          </a:xfrm>
          <a:prstGeom prst="rect">
            <a:avLst/>
          </a:prstGeom>
          <a:noFill/>
          <a:ln/>
        </p:spPr>
        <p:txBody>
          <a:bodyPr wrap="square" rtlCol="0" anchor="ctr"/>
          <a:lstStyle/>
          <a:p>
            <a:pPr indent="0" marL="0">
              <a:buNone/>
            </a:pPr>
            <a:r>
              <a:rPr lang="en-US" sz="1100" i="1" dirty="0">
                <a:solidFill>
                  <a:srgbClr val="1A6B7A"/>
                </a:solidFill>
                <a:latin typeface="Calibri" pitchFamily="34" charset="0"/>
                <a:ea typeface="Calibri" pitchFamily="34" charset="-122"/>
                <a:cs typeface="Calibri" pitchFamily="34" charset="-120"/>
              </a:rPr>
              <a:t>https://github.com/Shenggan/BCCD_Dataset</a:t>
            </a:r>
            <a:endParaRPr lang="en-US" sz="1100" dirty="0"/>
          </a:p>
        </p:txBody>
      </p:sp>
      <p:sp>
        <p:nvSpPr>
          <p:cNvPr id="11" name="Text 8"/>
          <p:cNvSpPr/>
          <p:nvPr/>
        </p:nvSpPr>
        <p:spPr>
          <a:xfrm>
            <a:off x="502920" y="3429000"/>
            <a:ext cx="822960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Data Challenges</a:t>
            </a:r>
            <a:endParaRPr lang="en-US" sz="1300" dirty="0"/>
          </a:p>
        </p:txBody>
      </p:sp>
      <p:sp>
        <p:nvSpPr>
          <p:cNvPr id="12" name="Text 9"/>
          <p:cNvSpPr/>
          <p:nvPr/>
        </p:nvSpPr>
        <p:spPr>
          <a:xfrm>
            <a:off x="502920" y="3749040"/>
            <a:ext cx="8138160" cy="594360"/>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Mendeley dataset replaced — found to contain white blood cells, not red blood cell smear images.   422 labelled Tushabe images excluded — bounding box annotations burned directly into image pixels, which would cause the model to learn artefacts rather than cell morphology.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Dataset — Sample Blood Smear Images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pic>
        <p:nvPicPr>
          <p:cNvPr id="5" name="Image 0" descr="preencoded.png">    </p:cNvPr>
          <p:cNvPicPr>
            <a:picLocks noChangeAspect="1"/>
          </p:cNvPicPr>
          <p:nvPr/>
        </p:nvPicPr>
        <p:blipFill>
          <a:blip r:embed="rId1"/>
          <a:stretch>
            <a:fillRect/>
          </a:stretch>
        </p:blipFill>
        <p:spPr>
          <a:xfrm>
            <a:off x="457200" y="841248"/>
            <a:ext cx="8229600" cy="3611880"/>
          </a:xfrm>
          <a:prstGeom prst="rect">
            <a:avLst/>
          </a:prstGeom>
        </p:spPr>
      </p:pic>
      <p:sp>
        <p:nvSpPr>
          <p:cNvPr id="6" name="Text 2"/>
          <p:cNvSpPr/>
          <p:nvPr/>
        </p:nvSpPr>
        <p:spPr>
          <a:xfrm>
            <a:off x="502920" y="4572000"/>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1. Sample peripheral blood smear images. Top row: positive (sickle cell) images showing elongated crescent-shaped cells within the circular mobile phone microscope field. Bottom row: negative (normal) images — Tushabe Uganda samples (circular border) and BCCD laboratory images (rectangular format). Source: Tushabe et al. (2024) and Shenggan et 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Dataset — Composition and Split</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914400"/>
            <a:ext cx="2926080" cy="457200"/>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p>
        </p:txBody>
      </p:sp>
      <p:sp>
        <p:nvSpPr>
          <p:cNvPr id="6" name="Text 3"/>
          <p:cNvSpPr/>
          <p:nvPr/>
        </p:nvSpPr>
        <p:spPr>
          <a:xfrm>
            <a:off x="3429000" y="914400"/>
            <a:ext cx="1463040" cy="457200"/>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p>
        </p:txBody>
      </p:sp>
      <p:sp>
        <p:nvSpPr>
          <p:cNvPr id="7" name="Text 4"/>
          <p:cNvSpPr/>
          <p:nvPr/>
        </p:nvSpPr>
        <p:spPr>
          <a:xfrm>
            <a:off x="4892040" y="914400"/>
            <a:ext cx="1463040" cy="457200"/>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Images</a:t>
            </a:r>
            <a:endParaRPr lang="en-US" sz="1250" dirty="0"/>
          </a:p>
        </p:txBody>
      </p:sp>
      <p:sp>
        <p:nvSpPr>
          <p:cNvPr id="8" name="Text 5"/>
          <p:cNvSpPr/>
          <p:nvPr/>
        </p:nvSpPr>
        <p:spPr>
          <a:xfrm>
            <a:off x="6355080" y="914400"/>
            <a:ext cx="2743200" cy="457200"/>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Camera Type</a:t>
            </a:r>
            <a:endParaRPr lang="en-US" sz="1250" dirty="0"/>
          </a:p>
        </p:txBody>
      </p:sp>
      <p:sp>
        <p:nvSpPr>
          <p:cNvPr id="9" name="Text 6"/>
          <p:cNvSpPr/>
          <p:nvPr/>
        </p:nvSpPr>
        <p:spPr>
          <a:xfrm>
            <a:off x="502920" y="1417320"/>
            <a:ext cx="292608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Tushabe (2024) — unlabelled</a:t>
            </a:r>
            <a:endParaRPr lang="en-US" sz="1250" dirty="0"/>
          </a:p>
        </p:txBody>
      </p:sp>
      <p:sp>
        <p:nvSpPr>
          <p:cNvPr id="10" name="Text 7"/>
          <p:cNvSpPr/>
          <p:nvPr/>
        </p:nvSpPr>
        <p:spPr>
          <a:xfrm>
            <a:off x="3429000" y="1417320"/>
            <a:ext cx="146304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Positive</a:t>
            </a:r>
            <a:endParaRPr lang="en-US" sz="1250" dirty="0"/>
          </a:p>
        </p:txBody>
      </p:sp>
      <p:sp>
        <p:nvSpPr>
          <p:cNvPr id="11" name="Text 8"/>
          <p:cNvSpPr/>
          <p:nvPr/>
        </p:nvSpPr>
        <p:spPr>
          <a:xfrm>
            <a:off x="4892040" y="1417320"/>
            <a:ext cx="146304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422</a:t>
            </a:r>
            <a:endParaRPr lang="en-US" sz="1250" dirty="0"/>
          </a:p>
        </p:txBody>
      </p:sp>
      <p:sp>
        <p:nvSpPr>
          <p:cNvPr id="12" name="Text 9"/>
          <p:cNvSpPr/>
          <p:nvPr/>
        </p:nvSpPr>
        <p:spPr>
          <a:xfrm>
            <a:off x="6355080" y="1417320"/>
            <a:ext cx="274320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Mobile phone microscope</a:t>
            </a:r>
            <a:endParaRPr lang="en-US" sz="1250" dirty="0"/>
          </a:p>
        </p:txBody>
      </p:sp>
      <p:sp>
        <p:nvSpPr>
          <p:cNvPr id="13" name="Text 10"/>
          <p:cNvSpPr/>
          <p:nvPr/>
        </p:nvSpPr>
        <p:spPr>
          <a:xfrm>
            <a:off x="502920" y="1920240"/>
            <a:ext cx="2926080" cy="457200"/>
          </a:xfrm>
          <a:prstGeom prst="rect">
            <a:avLst/>
          </a:prstGeom>
          <a:solidFill>
            <a:srgbClr val="FFF0F0"/>
          </a:solidFill>
          <a:ln/>
        </p:spPr>
        <p:txBody>
          <a:bodyPr wrap="square" rtlCol="0" anchor="ctr"/>
          <a:lstStyle/>
          <a:p>
            <a:pPr algn="ctr" indent="0" marL="0">
              <a:buNone/>
            </a:pPr>
            <a:r>
              <a:rPr lang="en-US" sz="1250" dirty="0">
                <a:solidFill>
                  <a:srgbClr val="C0392B"/>
                </a:solidFill>
                <a:latin typeface="Calibri" pitchFamily="34" charset="0"/>
                <a:ea typeface="Calibri" pitchFamily="34" charset="-122"/>
                <a:cs typeface="Calibri" pitchFamily="34" charset="-120"/>
              </a:rPr>
              <a:t>Tushabe (2024) — labelled</a:t>
            </a:r>
            <a:endParaRPr lang="en-US" sz="1250" dirty="0"/>
          </a:p>
        </p:txBody>
      </p:sp>
      <p:sp>
        <p:nvSpPr>
          <p:cNvPr id="14" name="Text 11"/>
          <p:cNvSpPr/>
          <p:nvPr/>
        </p:nvSpPr>
        <p:spPr>
          <a:xfrm>
            <a:off x="3429000" y="1920240"/>
            <a:ext cx="1463040" cy="457200"/>
          </a:xfrm>
          <a:prstGeom prst="rect">
            <a:avLst/>
          </a:prstGeom>
          <a:solidFill>
            <a:srgbClr val="FFF0F0"/>
          </a:solidFill>
          <a:ln/>
        </p:spPr>
        <p:txBody>
          <a:bodyPr wrap="square" rtlCol="0" anchor="ctr"/>
          <a:lstStyle/>
          <a:p>
            <a:pPr algn="ctr" indent="0" marL="0">
              <a:buNone/>
            </a:pPr>
            <a:r>
              <a:rPr lang="en-US" sz="1250" dirty="0">
                <a:solidFill>
                  <a:srgbClr val="C0392B"/>
                </a:solidFill>
                <a:latin typeface="Calibri" pitchFamily="34" charset="0"/>
                <a:ea typeface="Calibri" pitchFamily="34" charset="-122"/>
                <a:cs typeface="Calibri" pitchFamily="34" charset="-120"/>
              </a:rPr>
              <a:t>Positive</a:t>
            </a:r>
            <a:endParaRPr lang="en-US" sz="1250" dirty="0"/>
          </a:p>
        </p:txBody>
      </p:sp>
      <p:sp>
        <p:nvSpPr>
          <p:cNvPr id="15" name="Text 12"/>
          <p:cNvSpPr/>
          <p:nvPr/>
        </p:nvSpPr>
        <p:spPr>
          <a:xfrm>
            <a:off x="4892040" y="1920240"/>
            <a:ext cx="1463040" cy="457200"/>
          </a:xfrm>
          <a:prstGeom prst="rect">
            <a:avLst/>
          </a:prstGeom>
          <a:solidFill>
            <a:srgbClr val="FFF0F0"/>
          </a:solidFill>
          <a:ln/>
        </p:spPr>
        <p:txBody>
          <a:bodyPr wrap="square" rtlCol="0" anchor="ctr"/>
          <a:lstStyle/>
          <a:p>
            <a:pPr algn="ctr" indent="0" marL="0">
              <a:buNone/>
            </a:pPr>
            <a:r>
              <a:rPr lang="en-US" sz="1250" dirty="0">
                <a:solidFill>
                  <a:srgbClr val="C0392B"/>
                </a:solidFill>
                <a:latin typeface="Calibri" pitchFamily="34" charset="0"/>
                <a:ea typeface="Calibri" pitchFamily="34" charset="-122"/>
                <a:cs typeface="Calibri" pitchFamily="34" charset="-120"/>
              </a:rPr>
              <a:t>422 excluded</a:t>
            </a:r>
            <a:endParaRPr lang="en-US" sz="1250" dirty="0"/>
          </a:p>
        </p:txBody>
      </p:sp>
      <p:sp>
        <p:nvSpPr>
          <p:cNvPr id="16" name="Text 13"/>
          <p:cNvSpPr/>
          <p:nvPr/>
        </p:nvSpPr>
        <p:spPr>
          <a:xfrm>
            <a:off x="6355080" y="1920240"/>
            <a:ext cx="2743200" cy="457200"/>
          </a:xfrm>
          <a:prstGeom prst="rect">
            <a:avLst/>
          </a:prstGeom>
          <a:solidFill>
            <a:srgbClr val="FFF0F0"/>
          </a:solidFill>
          <a:ln/>
        </p:spPr>
        <p:txBody>
          <a:bodyPr wrap="square" rtlCol="0" anchor="ctr"/>
          <a:lstStyle/>
          <a:p>
            <a:pPr algn="ctr" indent="0" marL="0">
              <a:buNone/>
            </a:pPr>
            <a:r>
              <a:rPr lang="en-US" sz="1250" dirty="0">
                <a:solidFill>
                  <a:srgbClr val="C0392B"/>
                </a:solidFill>
                <a:latin typeface="Calibri" pitchFamily="34" charset="0"/>
                <a:ea typeface="Calibri" pitchFamily="34" charset="-122"/>
                <a:cs typeface="Calibri" pitchFamily="34" charset="-120"/>
              </a:rPr>
              <a:t>Burned-in annotations</a:t>
            </a:r>
            <a:endParaRPr lang="en-US" sz="1250" dirty="0"/>
          </a:p>
        </p:txBody>
      </p:sp>
      <p:sp>
        <p:nvSpPr>
          <p:cNvPr id="17" name="Text 14"/>
          <p:cNvSpPr/>
          <p:nvPr/>
        </p:nvSpPr>
        <p:spPr>
          <a:xfrm>
            <a:off x="502920" y="2423160"/>
            <a:ext cx="292608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Tushabe (2024)</a:t>
            </a:r>
            <a:endParaRPr lang="en-US" sz="1250" dirty="0"/>
          </a:p>
        </p:txBody>
      </p:sp>
      <p:sp>
        <p:nvSpPr>
          <p:cNvPr id="18" name="Text 15"/>
          <p:cNvSpPr/>
          <p:nvPr/>
        </p:nvSpPr>
        <p:spPr>
          <a:xfrm>
            <a:off x="3429000" y="2423160"/>
            <a:ext cx="146304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Negative</a:t>
            </a:r>
            <a:endParaRPr lang="en-US" sz="1250" dirty="0"/>
          </a:p>
        </p:txBody>
      </p:sp>
      <p:sp>
        <p:nvSpPr>
          <p:cNvPr id="19" name="Text 16"/>
          <p:cNvSpPr/>
          <p:nvPr/>
        </p:nvSpPr>
        <p:spPr>
          <a:xfrm>
            <a:off x="4892040" y="2423160"/>
            <a:ext cx="146304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147</a:t>
            </a:r>
            <a:endParaRPr lang="en-US" sz="1250" dirty="0"/>
          </a:p>
        </p:txBody>
      </p:sp>
      <p:sp>
        <p:nvSpPr>
          <p:cNvPr id="20" name="Text 17"/>
          <p:cNvSpPr/>
          <p:nvPr/>
        </p:nvSpPr>
        <p:spPr>
          <a:xfrm>
            <a:off x="6355080" y="2423160"/>
            <a:ext cx="2743200" cy="457200"/>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Mobile phone microscope</a:t>
            </a:r>
            <a:endParaRPr lang="en-US" sz="1250" dirty="0"/>
          </a:p>
        </p:txBody>
      </p:sp>
      <p:sp>
        <p:nvSpPr>
          <p:cNvPr id="21" name="Text 18"/>
          <p:cNvSpPr/>
          <p:nvPr/>
        </p:nvSpPr>
        <p:spPr>
          <a:xfrm>
            <a:off x="502920" y="2926080"/>
            <a:ext cx="2926080" cy="457200"/>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BCCD Dataset</a:t>
            </a:r>
            <a:endParaRPr lang="en-US" sz="1250" dirty="0"/>
          </a:p>
        </p:txBody>
      </p:sp>
      <p:sp>
        <p:nvSpPr>
          <p:cNvPr id="22" name="Text 19"/>
          <p:cNvSpPr/>
          <p:nvPr/>
        </p:nvSpPr>
        <p:spPr>
          <a:xfrm>
            <a:off x="3429000" y="2926080"/>
            <a:ext cx="1463040" cy="457200"/>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Negative</a:t>
            </a:r>
            <a:endParaRPr lang="en-US" sz="1250" dirty="0"/>
          </a:p>
        </p:txBody>
      </p:sp>
      <p:sp>
        <p:nvSpPr>
          <p:cNvPr id="23" name="Text 20"/>
          <p:cNvSpPr/>
          <p:nvPr/>
        </p:nvSpPr>
        <p:spPr>
          <a:xfrm>
            <a:off x="4892040" y="2926080"/>
            <a:ext cx="1463040" cy="457200"/>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364</a:t>
            </a:r>
            <a:endParaRPr lang="en-US" sz="1250" dirty="0"/>
          </a:p>
        </p:txBody>
      </p:sp>
      <p:sp>
        <p:nvSpPr>
          <p:cNvPr id="24" name="Text 21"/>
          <p:cNvSpPr/>
          <p:nvPr/>
        </p:nvSpPr>
        <p:spPr>
          <a:xfrm>
            <a:off x="6355080" y="2926080"/>
            <a:ext cx="2743200" cy="457200"/>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Laboratory camera</a:t>
            </a:r>
            <a:endParaRPr lang="en-US" sz="1250" dirty="0"/>
          </a:p>
        </p:txBody>
      </p:sp>
      <p:sp>
        <p:nvSpPr>
          <p:cNvPr id="25" name="Text 22"/>
          <p:cNvSpPr/>
          <p:nvPr/>
        </p:nvSpPr>
        <p:spPr>
          <a:xfrm>
            <a:off x="502920" y="3429000"/>
            <a:ext cx="2926080" cy="457200"/>
          </a:xfrm>
          <a:prstGeom prst="rect">
            <a:avLst/>
          </a:prstGeom>
          <a:solidFill>
            <a:srgbClr val="2C4A6B"/>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Total used</a:t>
            </a:r>
            <a:endParaRPr lang="en-US" sz="1250" dirty="0"/>
          </a:p>
        </p:txBody>
      </p:sp>
      <p:sp>
        <p:nvSpPr>
          <p:cNvPr id="26" name="Text 23"/>
          <p:cNvSpPr/>
          <p:nvPr/>
        </p:nvSpPr>
        <p:spPr>
          <a:xfrm>
            <a:off x="3429000" y="3429000"/>
            <a:ext cx="1463040" cy="457200"/>
          </a:xfrm>
          <a:prstGeom prst="rect">
            <a:avLst/>
          </a:prstGeom>
          <a:solidFill>
            <a:srgbClr val="2C4A6B"/>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Both</a:t>
            </a:r>
            <a:endParaRPr lang="en-US" sz="1250" dirty="0"/>
          </a:p>
        </p:txBody>
      </p:sp>
      <p:sp>
        <p:nvSpPr>
          <p:cNvPr id="27" name="Text 24"/>
          <p:cNvSpPr/>
          <p:nvPr/>
        </p:nvSpPr>
        <p:spPr>
          <a:xfrm>
            <a:off x="4892040" y="3429000"/>
            <a:ext cx="1463040" cy="457200"/>
          </a:xfrm>
          <a:prstGeom prst="rect">
            <a:avLst/>
          </a:prstGeom>
          <a:solidFill>
            <a:srgbClr val="2C4A6B"/>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933</a:t>
            </a:r>
            <a:endParaRPr lang="en-US" sz="1250" dirty="0"/>
          </a:p>
        </p:txBody>
      </p:sp>
      <p:sp>
        <p:nvSpPr>
          <p:cNvPr id="28" name="Text 25"/>
          <p:cNvSpPr/>
          <p:nvPr/>
        </p:nvSpPr>
        <p:spPr>
          <a:xfrm>
            <a:off x="6355080" y="3429000"/>
            <a:ext cx="2743200" cy="457200"/>
          </a:xfrm>
          <a:prstGeom prst="rect">
            <a:avLst/>
          </a:prstGeom>
          <a:solidFill>
            <a:srgbClr val="2C4A6B"/>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Mixed</a:t>
            </a:r>
            <a:endParaRPr lang="en-US" sz="1250" dirty="0"/>
          </a:p>
        </p:txBody>
      </p:sp>
      <p:sp>
        <p:nvSpPr>
          <p:cNvPr id="29" name="Text 26"/>
          <p:cNvSpPr/>
          <p:nvPr/>
        </p:nvSpPr>
        <p:spPr>
          <a:xfrm>
            <a:off x="502920" y="3950208"/>
            <a:ext cx="8138160" cy="274320"/>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Train / Validation / Test Split</a:t>
            </a:r>
            <a:endParaRPr lang="en-US" sz="1300" dirty="0"/>
          </a:p>
        </p:txBody>
      </p:sp>
      <p:sp>
        <p:nvSpPr>
          <p:cNvPr id="30" name="Text 27"/>
          <p:cNvSpPr/>
          <p:nvPr/>
        </p:nvSpPr>
        <p:spPr>
          <a:xfrm>
            <a:off x="502920" y="4251960"/>
            <a:ext cx="8138160" cy="347472"/>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653 training images (70%)   |   140 validation images (15%)   |   140 test images (15%)   |   Stratified split — class proportions preserved across all three sets.</a:t>
            </a:r>
            <a:endParaRPr lang="en-US" sz="1250" dirty="0"/>
          </a:p>
        </p:txBody>
      </p:sp>
      <p:sp>
        <p:nvSpPr>
          <p:cNvPr id="31" name="Text 28"/>
          <p:cNvSpPr/>
          <p:nvPr/>
        </p:nvSpPr>
        <p:spPr>
          <a:xfrm>
            <a:off x="502920" y="4645152"/>
            <a:ext cx="8138160" cy="292608"/>
          </a:xfrm>
          <a:prstGeom prst="rect">
            <a:avLst/>
          </a:prstGeom>
          <a:noFill/>
          <a:ln/>
        </p:spPr>
        <p:txBody>
          <a:bodyPr wrap="square" rtlCol="0" anchor="ctr"/>
          <a:lstStyle/>
          <a:p>
            <a:pPr indent="0" marL="0">
              <a:buNone/>
            </a:pPr>
            <a:r>
              <a:rPr lang="en-US" sz="1150" i="1" dirty="0">
                <a:solidFill>
                  <a:srgbClr val="666666"/>
                </a:solidFill>
                <a:latin typeface="Calibri" pitchFamily="34" charset="0"/>
                <a:ea typeface="Calibri" pitchFamily="34" charset="-122"/>
                <a:cs typeface="Calibri" pitchFamily="34" charset="-120"/>
              </a:rPr>
              <a:t>Class imbalance addressed using WeightedRandomSampler and weighted BCEWithLogitsLoss (pos_weight = 1.2061).</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Methodology — Model Architecture</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8138160" cy="347472"/>
          </a:xfrm>
          <a:prstGeom prst="rect">
            <a:avLst/>
          </a:prstGeom>
          <a:noFill/>
          <a:ln/>
        </p:spPr>
        <p:txBody>
          <a:bodyPr wrap="square" rtlCol="0" anchor="ctr"/>
          <a:lstStyle/>
          <a:p>
            <a:pPr indent="0" marL="0">
              <a:buNone/>
            </a:pPr>
            <a:r>
              <a:rPr lang="en-US" sz="1300" i="1" dirty="0">
                <a:solidFill>
                  <a:srgbClr val="444444"/>
                </a:solidFill>
                <a:latin typeface="Calibri" pitchFamily="34" charset="0"/>
                <a:ea typeface="Calibri" pitchFamily="34" charset="-122"/>
                <a:cs typeface="Calibri" pitchFamily="34" charset="-120"/>
              </a:rPr>
              <a:t>Three architectures were developed in sequence, each building on the lessons of the previous.</a:t>
            </a:r>
            <a:endParaRPr lang="en-US" sz="1300" dirty="0"/>
          </a:p>
        </p:txBody>
      </p:sp>
      <p:sp>
        <p:nvSpPr>
          <p:cNvPr id="6" name="Shape 3"/>
          <p:cNvSpPr/>
          <p:nvPr/>
        </p:nvSpPr>
        <p:spPr>
          <a:xfrm>
            <a:off x="274320" y="1325880"/>
            <a:ext cx="2834640" cy="3200400"/>
          </a:xfrm>
          <a:prstGeom prst="rect">
            <a:avLst/>
          </a:prstGeom>
          <a:solidFill>
            <a:srgbClr val="FFFFFF"/>
          </a:solidFill>
          <a:ln w="19050">
            <a:solidFill>
              <a:srgbClr val="7A92A8"/>
            </a:solidFill>
            <a:prstDash val="solid"/>
          </a:ln>
        </p:spPr>
      </p:sp>
      <p:sp>
        <p:nvSpPr>
          <p:cNvPr id="7" name="Shape 4"/>
          <p:cNvSpPr/>
          <p:nvPr/>
        </p:nvSpPr>
        <p:spPr>
          <a:xfrm>
            <a:off x="274320" y="1325880"/>
            <a:ext cx="2834640" cy="548640"/>
          </a:xfrm>
          <a:prstGeom prst="rect">
            <a:avLst/>
          </a:prstGeom>
          <a:solidFill>
            <a:srgbClr val="7A92A8"/>
          </a:solidFill>
          <a:ln w="12700">
            <a:solidFill>
              <a:srgbClr val="7A92A8"/>
            </a:solidFill>
            <a:prstDash val="solid"/>
          </a:ln>
        </p:spPr>
      </p:sp>
      <p:sp>
        <p:nvSpPr>
          <p:cNvPr id="8" name="Text 5"/>
          <p:cNvSpPr/>
          <p:nvPr/>
        </p:nvSpPr>
        <p:spPr>
          <a:xfrm>
            <a:off x="384048" y="1353312"/>
            <a:ext cx="2615184"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01  Baseline CNN</a:t>
            </a:r>
            <a:endParaRPr lang="en-US" sz="1300" dirty="0"/>
          </a:p>
        </p:txBody>
      </p:sp>
      <p:sp>
        <p:nvSpPr>
          <p:cNvPr id="9" name="Text 6"/>
          <p:cNvSpPr/>
          <p:nvPr/>
        </p:nvSpPr>
        <p:spPr>
          <a:xfrm>
            <a:off x="384048" y="1627632"/>
            <a:ext cx="2615184" cy="219456"/>
          </a:xfrm>
          <a:prstGeom prst="rect">
            <a:avLst/>
          </a:prstGeom>
          <a:noFill/>
          <a:ln/>
        </p:spPr>
        <p:txBody>
          <a:bodyPr wrap="square" rtlCol="0" anchor="ctr"/>
          <a:lstStyle/>
          <a:p>
            <a:pPr indent="0" marL="0">
              <a:buNone/>
            </a:pPr>
            <a:r>
              <a:rPr lang="en-US" sz="1000" i="1" dirty="0">
                <a:solidFill>
                  <a:srgbClr val="CCE4F0"/>
                </a:solidFill>
                <a:latin typeface="Calibri" pitchFamily="34" charset="0"/>
                <a:ea typeface="Calibri" pitchFamily="34" charset="-122"/>
                <a:cs typeface="Calibri" pitchFamily="34" charset="-120"/>
              </a:rPr>
              <a:t>Trained from scratch</a:t>
            </a:r>
            <a:endParaRPr lang="en-US" sz="1000" dirty="0"/>
          </a:p>
        </p:txBody>
      </p:sp>
      <p:sp>
        <p:nvSpPr>
          <p:cNvPr id="10" name="Text 7"/>
          <p:cNvSpPr/>
          <p:nvPr/>
        </p:nvSpPr>
        <p:spPr>
          <a:xfrm>
            <a:off x="457200" y="196596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3 convolutional blocks</a:t>
            </a:r>
            <a:endParaRPr lang="en-US" sz="1250" dirty="0"/>
          </a:p>
        </p:txBody>
      </p:sp>
      <p:sp>
        <p:nvSpPr>
          <p:cNvPr id="11" name="Text 8"/>
          <p:cNvSpPr/>
          <p:nvPr/>
        </p:nvSpPr>
        <p:spPr>
          <a:xfrm>
            <a:off x="457200" y="251460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25.8M parameters</a:t>
            </a:r>
            <a:endParaRPr lang="en-US" sz="1250" dirty="0"/>
          </a:p>
        </p:txBody>
      </p:sp>
      <p:sp>
        <p:nvSpPr>
          <p:cNvPr id="12" name="Text 9"/>
          <p:cNvSpPr/>
          <p:nvPr/>
        </p:nvSpPr>
        <p:spPr>
          <a:xfrm>
            <a:off x="457200" y="306324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No pretrained knowledge</a:t>
            </a:r>
            <a:endParaRPr lang="en-US" sz="1250" dirty="0"/>
          </a:p>
        </p:txBody>
      </p:sp>
      <p:sp>
        <p:nvSpPr>
          <p:cNvPr id="13" name="Text 10"/>
          <p:cNvSpPr/>
          <p:nvPr/>
        </p:nvSpPr>
        <p:spPr>
          <a:xfrm>
            <a:off x="457200" y="361188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Establishes the performance floor</a:t>
            </a:r>
            <a:endParaRPr lang="en-US" sz="1250" dirty="0"/>
          </a:p>
        </p:txBody>
      </p:sp>
      <p:sp>
        <p:nvSpPr>
          <p:cNvPr id="14" name="Shape 11"/>
          <p:cNvSpPr/>
          <p:nvPr/>
        </p:nvSpPr>
        <p:spPr>
          <a:xfrm>
            <a:off x="3227832" y="1325880"/>
            <a:ext cx="2834640" cy="3200400"/>
          </a:xfrm>
          <a:prstGeom prst="rect">
            <a:avLst/>
          </a:prstGeom>
          <a:solidFill>
            <a:srgbClr val="FFFFFF"/>
          </a:solidFill>
          <a:ln w="19050">
            <a:solidFill>
              <a:srgbClr val="1A6B7A"/>
            </a:solidFill>
            <a:prstDash val="solid"/>
          </a:ln>
        </p:spPr>
      </p:sp>
      <p:sp>
        <p:nvSpPr>
          <p:cNvPr id="15" name="Shape 12"/>
          <p:cNvSpPr/>
          <p:nvPr/>
        </p:nvSpPr>
        <p:spPr>
          <a:xfrm>
            <a:off x="3227832" y="1325880"/>
            <a:ext cx="2834640" cy="548640"/>
          </a:xfrm>
          <a:prstGeom prst="rect">
            <a:avLst/>
          </a:prstGeom>
          <a:solidFill>
            <a:srgbClr val="1A6B7A"/>
          </a:solidFill>
          <a:ln w="12700">
            <a:solidFill>
              <a:srgbClr val="1A6B7A"/>
            </a:solidFill>
            <a:prstDash val="solid"/>
          </a:ln>
        </p:spPr>
      </p:sp>
      <p:sp>
        <p:nvSpPr>
          <p:cNvPr id="16" name="Text 13"/>
          <p:cNvSpPr/>
          <p:nvPr/>
        </p:nvSpPr>
        <p:spPr>
          <a:xfrm>
            <a:off x="3337560" y="1353312"/>
            <a:ext cx="2615184"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02  EfficientNet-B0</a:t>
            </a:r>
            <a:endParaRPr lang="en-US" sz="1300" dirty="0"/>
          </a:p>
        </p:txBody>
      </p:sp>
      <p:sp>
        <p:nvSpPr>
          <p:cNvPr id="17" name="Text 14"/>
          <p:cNvSpPr/>
          <p:nvPr/>
        </p:nvSpPr>
        <p:spPr>
          <a:xfrm>
            <a:off x="3337560" y="1627632"/>
            <a:ext cx="2615184" cy="219456"/>
          </a:xfrm>
          <a:prstGeom prst="rect">
            <a:avLst/>
          </a:prstGeom>
          <a:noFill/>
          <a:ln/>
        </p:spPr>
        <p:txBody>
          <a:bodyPr wrap="square" rtlCol="0" anchor="ctr"/>
          <a:lstStyle/>
          <a:p>
            <a:pPr indent="0" marL="0">
              <a:buNone/>
            </a:pPr>
            <a:r>
              <a:rPr lang="en-US" sz="1000" i="1" dirty="0">
                <a:solidFill>
                  <a:srgbClr val="CCE4F0"/>
                </a:solidFill>
                <a:latin typeface="Calibri" pitchFamily="34" charset="0"/>
                <a:ea typeface="Calibri" pitchFamily="34" charset="-122"/>
                <a:cs typeface="Calibri" pitchFamily="34" charset="-120"/>
              </a:rPr>
              <a:t>Transfer learning</a:t>
            </a:r>
            <a:endParaRPr lang="en-US" sz="1000" dirty="0"/>
          </a:p>
        </p:txBody>
      </p:sp>
      <p:sp>
        <p:nvSpPr>
          <p:cNvPr id="18" name="Text 15"/>
          <p:cNvSpPr/>
          <p:nvPr/>
        </p:nvSpPr>
        <p:spPr>
          <a:xfrm>
            <a:off x="3410712" y="196596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Pretrained on ImageNet</a:t>
            </a:r>
            <a:endParaRPr lang="en-US" sz="1250" dirty="0"/>
          </a:p>
        </p:txBody>
      </p:sp>
      <p:sp>
        <p:nvSpPr>
          <p:cNvPr id="19" name="Text 16"/>
          <p:cNvSpPr/>
          <p:nvPr/>
        </p:nvSpPr>
        <p:spPr>
          <a:xfrm>
            <a:off x="3410712" y="251460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4.0M parameters</a:t>
            </a:r>
            <a:endParaRPr lang="en-US" sz="1250" dirty="0"/>
          </a:p>
        </p:txBody>
      </p:sp>
      <p:sp>
        <p:nvSpPr>
          <p:cNvPr id="20" name="Text 17"/>
          <p:cNvSpPr/>
          <p:nvPr/>
        </p:nvSpPr>
        <p:spPr>
          <a:xfrm>
            <a:off x="3410712" y="306324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Compound scaling design</a:t>
            </a:r>
            <a:endParaRPr lang="en-US" sz="1250" dirty="0"/>
          </a:p>
        </p:txBody>
      </p:sp>
      <p:sp>
        <p:nvSpPr>
          <p:cNvPr id="21" name="Text 18"/>
          <p:cNvSpPr/>
          <p:nvPr/>
        </p:nvSpPr>
        <p:spPr>
          <a:xfrm>
            <a:off x="3410712" y="361188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Unfrozen fine-tuning</a:t>
            </a:r>
            <a:endParaRPr lang="en-US" sz="1250" dirty="0"/>
          </a:p>
        </p:txBody>
      </p:sp>
      <p:sp>
        <p:nvSpPr>
          <p:cNvPr id="22" name="Shape 19"/>
          <p:cNvSpPr/>
          <p:nvPr/>
        </p:nvSpPr>
        <p:spPr>
          <a:xfrm>
            <a:off x="6181344" y="1325880"/>
            <a:ext cx="2834640" cy="3200400"/>
          </a:xfrm>
          <a:prstGeom prst="rect">
            <a:avLst/>
          </a:prstGeom>
          <a:solidFill>
            <a:srgbClr val="FFFFFF"/>
          </a:solidFill>
          <a:ln w="19050">
            <a:solidFill>
              <a:srgbClr val="2C4A6B"/>
            </a:solidFill>
            <a:prstDash val="solid"/>
          </a:ln>
        </p:spPr>
      </p:sp>
      <p:sp>
        <p:nvSpPr>
          <p:cNvPr id="23" name="Shape 20"/>
          <p:cNvSpPr/>
          <p:nvPr/>
        </p:nvSpPr>
        <p:spPr>
          <a:xfrm>
            <a:off x="6181344" y="1325880"/>
            <a:ext cx="2834640" cy="548640"/>
          </a:xfrm>
          <a:prstGeom prst="rect">
            <a:avLst/>
          </a:prstGeom>
          <a:solidFill>
            <a:srgbClr val="2C4A6B"/>
          </a:solidFill>
          <a:ln w="12700">
            <a:solidFill>
              <a:srgbClr val="2C4A6B"/>
            </a:solidFill>
            <a:prstDash val="solid"/>
          </a:ln>
        </p:spPr>
      </p:sp>
      <p:sp>
        <p:nvSpPr>
          <p:cNvPr id="24" name="Text 21"/>
          <p:cNvSpPr/>
          <p:nvPr/>
        </p:nvSpPr>
        <p:spPr>
          <a:xfrm>
            <a:off x="6291072" y="1353312"/>
            <a:ext cx="2615184"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  ResNet-50</a:t>
            </a:r>
            <a:endParaRPr lang="en-US" sz="1300" dirty="0"/>
          </a:p>
        </p:txBody>
      </p:sp>
      <p:sp>
        <p:nvSpPr>
          <p:cNvPr id="25" name="Text 22"/>
          <p:cNvSpPr/>
          <p:nvPr/>
        </p:nvSpPr>
        <p:spPr>
          <a:xfrm>
            <a:off x="6291072" y="1627632"/>
            <a:ext cx="2615184" cy="219456"/>
          </a:xfrm>
          <a:prstGeom prst="rect">
            <a:avLst/>
          </a:prstGeom>
          <a:noFill/>
          <a:ln/>
        </p:spPr>
        <p:txBody>
          <a:bodyPr wrap="square" rtlCol="0" anchor="ctr"/>
          <a:lstStyle/>
          <a:p>
            <a:pPr indent="0" marL="0">
              <a:buNone/>
            </a:pPr>
            <a:r>
              <a:rPr lang="en-US" sz="1000" i="1" dirty="0">
                <a:solidFill>
                  <a:srgbClr val="CCE4F0"/>
                </a:solidFill>
                <a:latin typeface="Calibri" pitchFamily="34" charset="0"/>
                <a:ea typeface="Calibri" pitchFamily="34" charset="-122"/>
                <a:cs typeface="Calibri" pitchFamily="34" charset="-120"/>
              </a:rPr>
              <a:t>Transfer learning  ★  Best</a:t>
            </a:r>
            <a:endParaRPr lang="en-US" sz="1000" dirty="0"/>
          </a:p>
        </p:txBody>
      </p:sp>
      <p:sp>
        <p:nvSpPr>
          <p:cNvPr id="26" name="Text 23"/>
          <p:cNvSpPr/>
          <p:nvPr/>
        </p:nvSpPr>
        <p:spPr>
          <a:xfrm>
            <a:off x="6364224" y="196596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Pretrained on ImageNet</a:t>
            </a:r>
            <a:endParaRPr lang="en-US" sz="1250" dirty="0"/>
          </a:p>
        </p:txBody>
      </p:sp>
      <p:sp>
        <p:nvSpPr>
          <p:cNvPr id="27" name="Text 24"/>
          <p:cNvSpPr/>
          <p:nvPr/>
        </p:nvSpPr>
        <p:spPr>
          <a:xfrm>
            <a:off x="6364224" y="251460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23.5M parameters</a:t>
            </a:r>
            <a:endParaRPr lang="en-US" sz="1250" dirty="0"/>
          </a:p>
        </p:txBody>
      </p:sp>
      <p:sp>
        <p:nvSpPr>
          <p:cNvPr id="28" name="Text 25"/>
          <p:cNvSpPr/>
          <p:nvPr/>
        </p:nvSpPr>
        <p:spPr>
          <a:xfrm>
            <a:off x="6364224" y="306324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Residual connections</a:t>
            </a:r>
            <a:endParaRPr lang="en-US" sz="1250" dirty="0"/>
          </a:p>
        </p:txBody>
      </p:sp>
      <p:sp>
        <p:nvSpPr>
          <p:cNvPr id="29" name="Text 26"/>
          <p:cNvSpPr/>
          <p:nvPr/>
        </p:nvSpPr>
        <p:spPr>
          <a:xfrm>
            <a:off x="6364224" y="3611880"/>
            <a:ext cx="2468880" cy="45720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 98.57% accuracy</a:t>
            </a:r>
            <a:endParaRPr lang="en-US" sz="1250" dirty="0"/>
          </a:p>
        </p:txBody>
      </p:sp>
      <p:sp>
        <p:nvSpPr>
          <p:cNvPr id="30" name="Text 27"/>
          <p:cNvSpPr/>
          <p:nvPr/>
        </p:nvSpPr>
        <p:spPr>
          <a:xfrm>
            <a:off x="502920" y="4663440"/>
            <a:ext cx="8138160" cy="384048"/>
          </a:xfrm>
          <a:prstGeom prst="rect">
            <a:avLst/>
          </a:prstGeom>
          <a:noFill/>
          <a:ln/>
        </p:spPr>
        <p:txBody>
          <a:bodyPr wrap="square" rtlCol="0" anchor="ctr"/>
          <a:lstStyle/>
          <a:p>
            <a:pPr algn="ctr" indent="0" marL="0">
              <a:buNone/>
            </a:pPr>
            <a:r>
              <a:rPr lang="en-US" sz="1250" i="1" dirty="0">
                <a:solidFill>
                  <a:srgbClr val="091628"/>
                </a:solidFill>
                <a:latin typeface="Calibri" pitchFamily="34" charset="0"/>
                <a:ea typeface="Calibri" pitchFamily="34" charset="-122"/>
                <a:cs typeface="Calibri" pitchFamily="34" charset="-120"/>
              </a:rPr>
              <a:t>Why transfer learning?   Only 653 training images — pretrained ImageNet features bridge the data scarcity gap and eliminate the need to learn visual representations from scratch.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Methodology — Training Configuration</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96112"/>
            <a:ext cx="8138160" cy="274320"/>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Preprocessing</a:t>
            </a:r>
            <a:endParaRPr lang="en-US" sz="1300" dirty="0"/>
          </a:p>
        </p:txBody>
      </p:sp>
      <p:sp>
        <p:nvSpPr>
          <p:cNvPr id="6" name="Text 3"/>
          <p:cNvSpPr/>
          <p:nvPr/>
        </p:nvSpPr>
        <p:spPr>
          <a:xfrm>
            <a:off x="502920" y="1188720"/>
            <a:ext cx="8138160" cy="685800"/>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All images resized to 224×224 pixels and normalised using ImageNet mean and standard deviation. Augmentation applied to training set only: horizontal and vertical flips, rotation up to 180°, colour jitter to simulate mobile phone camera variation, and random resized cropping.</a:t>
            </a:r>
            <a:endParaRPr lang="en-US" sz="1250" dirty="0"/>
          </a:p>
        </p:txBody>
      </p:sp>
      <p:sp>
        <p:nvSpPr>
          <p:cNvPr id="7" name="Text 4"/>
          <p:cNvSpPr/>
          <p:nvPr/>
        </p:nvSpPr>
        <p:spPr>
          <a:xfrm>
            <a:off x="502920" y="1993392"/>
            <a:ext cx="8138160" cy="274320"/>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Training Parameters</a:t>
            </a:r>
            <a:endParaRPr lang="en-US" sz="1300" dirty="0"/>
          </a:p>
        </p:txBody>
      </p:sp>
      <p:sp>
        <p:nvSpPr>
          <p:cNvPr id="8" name="Text 5"/>
          <p:cNvSpPr/>
          <p:nvPr/>
        </p:nvSpPr>
        <p:spPr>
          <a:xfrm>
            <a:off x="502920" y="2331720"/>
            <a:ext cx="2194560" cy="402336"/>
          </a:xfrm>
          <a:prstGeom prst="rect">
            <a:avLst/>
          </a:prstGeom>
          <a:noFill/>
          <a:ln/>
        </p:spPr>
        <p:txBody>
          <a:bodyPr wrap="square" rtlCol="0" anchor="ctr"/>
          <a:lstStyle/>
          <a:p>
            <a:pPr indent="0" marL="0">
              <a:buNone/>
            </a:pPr>
            <a:r>
              <a:rPr lang="en-US" sz="1250" b="1" dirty="0">
                <a:solidFill>
                  <a:srgbClr val="2C4A6B"/>
                </a:solidFill>
                <a:latin typeface="Calibri" pitchFamily="34" charset="0"/>
                <a:ea typeface="Calibri" pitchFamily="34" charset="-122"/>
                <a:cs typeface="Calibri" pitchFamily="34" charset="-120"/>
              </a:rPr>
              <a:t>Optimiser</a:t>
            </a:r>
            <a:endParaRPr lang="en-US" sz="1250" dirty="0"/>
          </a:p>
        </p:txBody>
      </p:sp>
      <p:sp>
        <p:nvSpPr>
          <p:cNvPr id="9" name="Text 6"/>
          <p:cNvSpPr/>
          <p:nvPr/>
        </p:nvSpPr>
        <p:spPr>
          <a:xfrm>
            <a:off x="2788920" y="2331720"/>
            <a:ext cx="594360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Adam — adaptive learning rate suited to medical imaging tasks</a:t>
            </a:r>
            <a:endParaRPr lang="en-US" sz="1250" dirty="0"/>
          </a:p>
        </p:txBody>
      </p:sp>
      <p:sp>
        <p:nvSpPr>
          <p:cNvPr id="10" name="Text 7"/>
          <p:cNvSpPr/>
          <p:nvPr/>
        </p:nvSpPr>
        <p:spPr>
          <a:xfrm>
            <a:off x="502920" y="2807208"/>
            <a:ext cx="2194560" cy="402336"/>
          </a:xfrm>
          <a:prstGeom prst="rect">
            <a:avLst/>
          </a:prstGeom>
          <a:noFill/>
          <a:ln/>
        </p:spPr>
        <p:txBody>
          <a:bodyPr wrap="square" rtlCol="0" anchor="ctr"/>
          <a:lstStyle/>
          <a:p>
            <a:pPr indent="0" marL="0">
              <a:buNone/>
            </a:pPr>
            <a:r>
              <a:rPr lang="en-US" sz="1250" b="1" dirty="0">
                <a:solidFill>
                  <a:srgbClr val="2C4A6B"/>
                </a:solidFill>
                <a:latin typeface="Calibri" pitchFamily="34" charset="0"/>
                <a:ea typeface="Calibri" pitchFamily="34" charset="-122"/>
                <a:cs typeface="Calibri" pitchFamily="34" charset="-120"/>
              </a:rPr>
              <a:t>Learning rate</a:t>
            </a:r>
            <a:endParaRPr lang="en-US" sz="1250" dirty="0"/>
          </a:p>
        </p:txBody>
      </p:sp>
      <p:sp>
        <p:nvSpPr>
          <p:cNvPr id="11" name="Text 8"/>
          <p:cNvSpPr/>
          <p:nvPr/>
        </p:nvSpPr>
        <p:spPr>
          <a:xfrm>
            <a:off x="2788920" y="2807208"/>
            <a:ext cx="594360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0.001 for baseline and frozen models; 0.0001 for unfrozen fine-tuning</a:t>
            </a:r>
            <a:endParaRPr lang="en-US" sz="1250" dirty="0"/>
          </a:p>
        </p:txBody>
      </p:sp>
      <p:sp>
        <p:nvSpPr>
          <p:cNvPr id="12" name="Text 9"/>
          <p:cNvSpPr/>
          <p:nvPr/>
        </p:nvSpPr>
        <p:spPr>
          <a:xfrm>
            <a:off x="502920" y="3282696"/>
            <a:ext cx="2194560" cy="402336"/>
          </a:xfrm>
          <a:prstGeom prst="rect">
            <a:avLst/>
          </a:prstGeom>
          <a:noFill/>
          <a:ln/>
        </p:spPr>
        <p:txBody>
          <a:bodyPr wrap="square" rtlCol="0" anchor="ctr"/>
          <a:lstStyle/>
          <a:p>
            <a:pPr indent="0" marL="0">
              <a:buNone/>
            </a:pPr>
            <a:r>
              <a:rPr lang="en-US" sz="1250" b="1" dirty="0">
                <a:solidFill>
                  <a:srgbClr val="2C4A6B"/>
                </a:solidFill>
                <a:latin typeface="Calibri" pitchFamily="34" charset="0"/>
                <a:ea typeface="Calibri" pitchFamily="34" charset="-122"/>
                <a:cs typeface="Calibri" pitchFamily="34" charset="-120"/>
              </a:rPr>
              <a:t>Loss function</a:t>
            </a:r>
            <a:endParaRPr lang="en-US" sz="1250" dirty="0"/>
          </a:p>
        </p:txBody>
      </p:sp>
      <p:sp>
        <p:nvSpPr>
          <p:cNvPr id="13" name="Text 10"/>
          <p:cNvSpPr/>
          <p:nvPr/>
        </p:nvSpPr>
        <p:spPr>
          <a:xfrm>
            <a:off x="2788920" y="3282696"/>
            <a:ext cx="594360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Weighted BCEWithLogitsLoss — addresses class imbalance explicitly</a:t>
            </a:r>
            <a:endParaRPr lang="en-US" sz="1250" dirty="0"/>
          </a:p>
        </p:txBody>
      </p:sp>
      <p:sp>
        <p:nvSpPr>
          <p:cNvPr id="14" name="Text 11"/>
          <p:cNvSpPr/>
          <p:nvPr/>
        </p:nvSpPr>
        <p:spPr>
          <a:xfrm>
            <a:off x="502920" y="3758184"/>
            <a:ext cx="2194560" cy="402336"/>
          </a:xfrm>
          <a:prstGeom prst="rect">
            <a:avLst/>
          </a:prstGeom>
          <a:noFill/>
          <a:ln/>
        </p:spPr>
        <p:txBody>
          <a:bodyPr wrap="square" rtlCol="0" anchor="ctr"/>
          <a:lstStyle/>
          <a:p>
            <a:pPr indent="0" marL="0">
              <a:buNone/>
            </a:pPr>
            <a:r>
              <a:rPr lang="en-US" sz="1250" b="1" dirty="0">
                <a:solidFill>
                  <a:srgbClr val="2C4A6B"/>
                </a:solidFill>
                <a:latin typeface="Calibri" pitchFamily="34" charset="0"/>
                <a:ea typeface="Calibri" pitchFamily="34" charset="-122"/>
                <a:cs typeface="Calibri" pitchFamily="34" charset="-120"/>
              </a:rPr>
              <a:t>Early stopping</a:t>
            </a:r>
            <a:endParaRPr lang="en-US" sz="1250" dirty="0"/>
          </a:p>
        </p:txBody>
      </p:sp>
      <p:sp>
        <p:nvSpPr>
          <p:cNvPr id="15" name="Text 12"/>
          <p:cNvSpPr/>
          <p:nvPr/>
        </p:nvSpPr>
        <p:spPr>
          <a:xfrm>
            <a:off x="2788920" y="3758184"/>
            <a:ext cx="594360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Patience of 10 epochs — saves best model on minimum validation loss</a:t>
            </a:r>
            <a:endParaRPr lang="en-US" sz="1250" dirty="0"/>
          </a:p>
        </p:txBody>
      </p:sp>
      <p:sp>
        <p:nvSpPr>
          <p:cNvPr id="16" name="Text 13"/>
          <p:cNvSpPr/>
          <p:nvPr/>
        </p:nvSpPr>
        <p:spPr>
          <a:xfrm>
            <a:off x="502920" y="4233672"/>
            <a:ext cx="2194560" cy="402336"/>
          </a:xfrm>
          <a:prstGeom prst="rect">
            <a:avLst/>
          </a:prstGeom>
          <a:noFill/>
          <a:ln/>
        </p:spPr>
        <p:txBody>
          <a:bodyPr wrap="square" rtlCol="0" anchor="ctr"/>
          <a:lstStyle/>
          <a:p>
            <a:pPr indent="0" marL="0">
              <a:buNone/>
            </a:pPr>
            <a:r>
              <a:rPr lang="en-US" sz="1250" b="1" dirty="0">
                <a:solidFill>
                  <a:srgbClr val="2C4A6B"/>
                </a:solidFill>
                <a:latin typeface="Calibri" pitchFamily="34" charset="0"/>
                <a:ea typeface="Calibri" pitchFamily="34" charset="-122"/>
                <a:cs typeface="Calibri" pitchFamily="34" charset="-120"/>
              </a:rPr>
              <a:t>Scheduler</a:t>
            </a:r>
            <a:endParaRPr lang="en-US" sz="1250" dirty="0"/>
          </a:p>
        </p:txBody>
      </p:sp>
      <p:sp>
        <p:nvSpPr>
          <p:cNvPr id="17" name="Text 14"/>
          <p:cNvSpPr/>
          <p:nvPr/>
        </p:nvSpPr>
        <p:spPr>
          <a:xfrm>
            <a:off x="2788920" y="4233672"/>
            <a:ext cx="5943600" cy="402336"/>
          </a:xfrm>
          <a:prstGeom prst="rect">
            <a:avLst/>
          </a:prstGeom>
          <a:noFill/>
          <a:ln/>
        </p:spPr>
        <p:txBody>
          <a:bodyPr wrap="square" rtlCol="0" anchor="ctr"/>
          <a:lstStyle/>
          <a:p>
            <a:pPr indent="0" marL="0">
              <a:buNone/>
            </a:pPr>
            <a:r>
              <a:rPr lang="en-US" sz="1250" dirty="0">
                <a:solidFill>
                  <a:srgbClr val="333333"/>
                </a:solidFill>
                <a:latin typeface="Calibri" pitchFamily="34" charset="0"/>
                <a:ea typeface="Calibri" pitchFamily="34" charset="-122"/>
                <a:cs typeface="Calibri" pitchFamily="34" charset="-120"/>
              </a:rPr>
              <a:t>ReduceLROnPlateau — halves learning rate after 5 epochs without improvement</a:t>
            </a:r>
            <a:endParaRPr lang="en-US" sz="1250" dirty="0"/>
          </a:p>
        </p:txBody>
      </p:sp>
      <p:sp>
        <p:nvSpPr>
          <p:cNvPr id="18" name="Text 15"/>
          <p:cNvSpPr/>
          <p:nvPr/>
        </p:nvSpPr>
        <p:spPr>
          <a:xfrm>
            <a:off x="502920" y="4800600"/>
            <a:ext cx="8138160" cy="320040"/>
          </a:xfrm>
          <a:prstGeom prst="rect">
            <a:avLst/>
          </a:prstGeom>
          <a:noFill/>
          <a:ln/>
        </p:spPr>
        <p:txBody>
          <a:bodyPr wrap="square" rtlCol="0" anchor="ctr"/>
          <a:lstStyle/>
          <a:p>
            <a:pPr indent="0" marL="0">
              <a:buNone/>
            </a:pPr>
            <a:r>
              <a:rPr lang="en-US" sz="1150" i="1" dirty="0">
                <a:solidFill>
                  <a:srgbClr val="666666"/>
                </a:solidFill>
                <a:latin typeface="Calibri" pitchFamily="34" charset="0"/>
                <a:ea typeface="Calibri" pitchFamily="34" charset="-122"/>
                <a:cs typeface="Calibri" pitchFamily="34" charset="-120"/>
              </a:rPr>
              <a:t>Evaluation metrics: Accuracy, AUC-ROC, F1 score, Sensitivity, Specificity, and Precision. Sensitivity is the most clinically critical — missing a sickle cell case is the worst outcome.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Results — Baseline CNN</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4114800" cy="292608"/>
          </a:xfrm>
          <a:prstGeom prst="rect">
            <a:avLst/>
          </a:prstGeom>
          <a:noFill/>
          <a:ln/>
        </p:spPr>
        <p:txBody>
          <a:bodyPr wrap="square" rtlCol="0" anchor="ctr"/>
          <a:lstStyle/>
          <a:p>
            <a:pPr indent="0" marL="0">
              <a:buNone/>
            </a:pPr>
            <a:r>
              <a:rPr lang="en-US" sz="1100" i="1" dirty="0">
                <a:solidFill>
                  <a:srgbClr val="7A92A8"/>
                </a:solidFill>
                <a:latin typeface="Calibri" pitchFamily="34" charset="0"/>
                <a:ea typeface="Calibri" pitchFamily="34" charset="-122"/>
                <a:cs typeface="Calibri" pitchFamily="34" charset="-120"/>
              </a:rPr>
              <a:t>3 convolutional blocks — 25.8M parameters — trained from scratch, no pretrained weights</a:t>
            </a:r>
            <a:endParaRPr lang="en-US" sz="1100" dirty="0"/>
          </a:p>
        </p:txBody>
      </p:sp>
      <p:sp>
        <p:nvSpPr>
          <p:cNvPr id="6" name="Text 3"/>
          <p:cNvSpPr/>
          <p:nvPr/>
        </p:nvSpPr>
        <p:spPr>
          <a:xfrm>
            <a:off x="502920" y="1207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Test Accuracy</a:t>
            </a:r>
            <a:endParaRPr lang="en-US" sz="1200" dirty="0"/>
          </a:p>
        </p:txBody>
      </p:sp>
      <p:sp>
        <p:nvSpPr>
          <p:cNvPr id="7" name="Text 4"/>
          <p:cNvSpPr/>
          <p:nvPr/>
        </p:nvSpPr>
        <p:spPr>
          <a:xfrm>
            <a:off x="2578608" y="12070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87.86%</a:t>
            </a:r>
            <a:endParaRPr lang="en-US" sz="1400" dirty="0"/>
          </a:p>
        </p:txBody>
      </p:sp>
      <p:sp>
        <p:nvSpPr>
          <p:cNvPr id="8" name="Text 5"/>
          <p:cNvSpPr/>
          <p:nvPr/>
        </p:nvSpPr>
        <p:spPr>
          <a:xfrm>
            <a:off x="502920" y="16642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AUC-ROC</a:t>
            </a:r>
            <a:endParaRPr lang="en-US" sz="1200" dirty="0"/>
          </a:p>
        </p:txBody>
      </p:sp>
      <p:sp>
        <p:nvSpPr>
          <p:cNvPr id="9" name="Text 6"/>
          <p:cNvSpPr/>
          <p:nvPr/>
        </p:nvSpPr>
        <p:spPr>
          <a:xfrm>
            <a:off x="2578608" y="16642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0.9588</a:t>
            </a:r>
            <a:endParaRPr lang="en-US" sz="1400" dirty="0"/>
          </a:p>
        </p:txBody>
      </p:sp>
      <p:sp>
        <p:nvSpPr>
          <p:cNvPr id="10" name="Text 7"/>
          <p:cNvSpPr/>
          <p:nvPr/>
        </p:nvSpPr>
        <p:spPr>
          <a:xfrm>
            <a:off x="502920" y="21214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Sensitivity</a:t>
            </a:r>
            <a:endParaRPr lang="en-US" sz="1200" dirty="0"/>
          </a:p>
        </p:txBody>
      </p:sp>
      <p:sp>
        <p:nvSpPr>
          <p:cNvPr id="11" name="Text 8"/>
          <p:cNvSpPr/>
          <p:nvPr/>
        </p:nvSpPr>
        <p:spPr>
          <a:xfrm>
            <a:off x="2578608" y="21214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95.24%</a:t>
            </a:r>
            <a:endParaRPr lang="en-US" sz="1400" dirty="0"/>
          </a:p>
        </p:txBody>
      </p:sp>
      <p:sp>
        <p:nvSpPr>
          <p:cNvPr id="12" name="Text 9"/>
          <p:cNvSpPr/>
          <p:nvPr/>
        </p:nvSpPr>
        <p:spPr>
          <a:xfrm>
            <a:off x="502920" y="25786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Specificity</a:t>
            </a:r>
            <a:endParaRPr lang="en-US" sz="1200" dirty="0"/>
          </a:p>
        </p:txBody>
      </p:sp>
      <p:sp>
        <p:nvSpPr>
          <p:cNvPr id="13" name="Text 10"/>
          <p:cNvSpPr/>
          <p:nvPr/>
        </p:nvSpPr>
        <p:spPr>
          <a:xfrm>
            <a:off x="2578608" y="25786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81.82%</a:t>
            </a:r>
            <a:endParaRPr lang="en-US" sz="1400" dirty="0"/>
          </a:p>
        </p:txBody>
      </p:sp>
      <p:sp>
        <p:nvSpPr>
          <p:cNvPr id="14" name="Text 11"/>
          <p:cNvSpPr/>
          <p:nvPr/>
        </p:nvSpPr>
        <p:spPr>
          <a:xfrm>
            <a:off x="502920" y="30358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F1 Score</a:t>
            </a:r>
            <a:endParaRPr lang="en-US" sz="1200" dirty="0"/>
          </a:p>
        </p:txBody>
      </p:sp>
      <p:sp>
        <p:nvSpPr>
          <p:cNvPr id="15" name="Text 12"/>
          <p:cNvSpPr/>
          <p:nvPr/>
        </p:nvSpPr>
        <p:spPr>
          <a:xfrm>
            <a:off x="2578608" y="30358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0.8759</a:t>
            </a:r>
            <a:endParaRPr lang="en-US" sz="1400" dirty="0"/>
          </a:p>
        </p:txBody>
      </p:sp>
      <p:sp>
        <p:nvSpPr>
          <p:cNvPr id="16" name="Text 13"/>
          <p:cNvSpPr/>
          <p:nvPr/>
        </p:nvSpPr>
        <p:spPr>
          <a:xfrm>
            <a:off x="502920" y="3493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Total Errors</a:t>
            </a:r>
            <a:endParaRPr lang="en-US" sz="1200" dirty="0"/>
          </a:p>
        </p:txBody>
      </p:sp>
      <p:sp>
        <p:nvSpPr>
          <p:cNvPr id="17" name="Text 14"/>
          <p:cNvSpPr/>
          <p:nvPr/>
        </p:nvSpPr>
        <p:spPr>
          <a:xfrm>
            <a:off x="2578608" y="3493008"/>
            <a:ext cx="1645920" cy="384048"/>
          </a:xfrm>
          <a:prstGeom prst="rect">
            <a:avLst/>
          </a:prstGeom>
          <a:noFill/>
          <a:ln/>
        </p:spPr>
        <p:txBody>
          <a:bodyPr wrap="square" rtlCol="0" anchor="ctr"/>
          <a:lstStyle/>
          <a:p>
            <a:pPr indent="0" marL="0">
              <a:buNone/>
            </a:pPr>
            <a:r>
              <a:rPr lang="en-US" sz="1400" b="1" dirty="0">
                <a:solidFill>
                  <a:srgbClr val="2C4A6B"/>
                </a:solidFill>
                <a:latin typeface="Calibri" pitchFamily="34" charset="0"/>
                <a:ea typeface="Calibri" pitchFamily="34" charset="-122"/>
                <a:cs typeface="Calibri" pitchFamily="34" charset="-120"/>
              </a:rPr>
              <a:t>17 / 140</a:t>
            </a:r>
            <a:endParaRPr lang="en-US" sz="1400" dirty="0"/>
          </a:p>
        </p:txBody>
      </p:sp>
      <p:pic>
        <p:nvPicPr>
          <p:cNvPr id="18" name="Image 0" descr="preencoded.png">    </p:cNvPr>
          <p:cNvPicPr>
            <a:picLocks noChangeAspect="1"/>
          </p:cNvPicPr>
          <p:nvPr/>
        </p:nvPicPr>
        <p:blipFill>
          <a:blip r:embed="rId1"/>
          <a:stretch>
            <a:fillRect/>
          </a:stretch>
        </p:blipFill>
        <p:spPr>
          <a:xfrm>
            <a:off x="4434840" y="960120"/>
            <a:ext cx="4343400" cy="2331720"/>
          </a:xfrm>
          <a:prstGeom prst="rect">
            <a:avLst/>
          </a:prstGeom>
        </p:spPr>
      </p:pic>
      <p:sp>
        <p:nvSpPr>
          <p:cNvPr id="19" name="Text 15"/>
          <p:cNvSpPr/>
          <p:nvPr/>
        </p:nvSpPr>
        <p:spPr>
          <a:xfrm>
            <a:off x="502920" y="4133088"/>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2. Baseline CNN evaluation results (n=140). Left: confusion matrix — 17 total errors including 14 false positives. Right: ROC curve, AUC = 0.9588.</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Results — EfficientNet-B0</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4114800" cy="292608"/>
          </a:xfrm>
          <a:prstGeom prst="rect">
            <a:avLst/>
          </a:prstGeom>
          <a:noFill/>
          <a:ln/>
        </p:spPr>
        <p:txBody>
          <a:bodyPr wrap="square" rtlCol="0" anchor="ctr"/>
          <a:lstStyle/>
          <a:p>
            <a:pPr indent="0" marL="0">
              <a:buNone/>
            </a:pPr>
            <a:r>
              <a:rPr lang="en-US" sz="1100" i="1" dirty="0">
                <a:solidFill>
                  <a:srgbClr val="7A92A8"/>
                </a:solidFill>
                <a:latin typeface="Calibri" pitchFamily="34" charset="0"/>
                <a:ea typeface="Calibri" pitchFamily="34" charset="-122"/>
                <a:cs typeface="Calibri" pitchFamily="34" charset="-120"/>
              </a:rPr>
              <a:t>4.0M parameters — ImageNet pretrained — unfrozen fine-tuning</a:t>
            </a:r>
            <a:endParaRPr lang="en-US" sz="1100" dirty="0"/>
          </a:p>
        </p:txBody>
      </p:sp>
      <p:sp>
        <p:nvSpPr>
          <p:cNvPr id="6" name="Text 3"/>
          <p:cNvSpPr/>
          <p:nvPr/>
        </p:nvSpPr>
        <p:spPr>
          <a:xfrm>
            <a:off x="502920" y="1207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Test Accuracy</a:t>
            </a:r>
            <a:endParaRPr lang="en-US" sz="1200" dirty="0"/>
          </a:p>
        </p:txBody>
      </p:sp>
      <p:sp>
        <p:nvSpPr>
          <p:cNvPr id="7" name="Text 4"/>
          <p:cNvSpPr/>
          <p:nvPr/>
        </p:nvSpPr>
        <p:spPr>
          <a:xfrm>
            <a:off x="2578608" y="12070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96.43%</a:t>
            </a:r>
            <a:endParaRPr lang="en-US" sz="1400" dirty="0"/>
          </a:p>
        </p:txBody>
      </p:sp>
      <p:sp>
        <p:nvSpPr>
          <p:cNvPr id="8" name="Text 5"/>
          <p:cNvSpPr/>
          <p:nvPr/>
        </p:nvSpPr>
        <p:spPr>
          <a:xfrm>
            <a:off x="502920" y="16642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AUC-ROC</a:t>
            </a:r>
            <a:endParaRPr lang="en-US" sz="1200" dirty="0"/>
          </a:p>
        </p:txBody>
      </p:sp>
      <p:sp>
        <p:nvSpPr>
          <p:cNvPr id="9" name="Text 6"/>
          <p:cNvSpPr/>
          <p:nvPr/>
        </p:nvSpPr>
        <p:spPr>
          <a:xfrm>
            <a:off x="2578608" y="16642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0.9951</a:t>
            </a:r>
            <a:endParaRPr lang="en-US" sz="1400" dirty="0"/>
          </a:p>
        </p:txBody>
      </p:sp>
      <p:sp>
        <p:nvSpPr>
          <p:cNvPr id="10" name="Text 7"/>
          <p:cNvSpPr/>
          <p:nvPr/>
        </p:nvSpPr>
        <p:spPr>
          <a:xfrm>
            <a:off x="502920" y="21214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Sensitivity</a:t>
            </a:r>
            <a:endParaRPr lang="en-US" sz="1200" dirty="0"/>
          </a:p>
        </p:txBody>
      </p:sp>
      <p:sp>
        <p:nvSpPr>
          <p:cNvPr id="11" name="Text 8"/>
          <p:cNvSpPr/>
          <p:nvPr/>
        </p:nvSpPr>
        <p:spPr>
          <a:xfrm>
            <a:off x="2578608" y="21214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95.24%</a:t>
            </a:r>
            <a:endParaRPr lang="en-US" sz="1400" dirty="0"/>
          </a:p>
        </p:txBody>
      </p:sp>
      <p:sp>
        <p:nvSpPr>
          <p:cNvPr id="12" name="Text 9"/>
          <p:cNvSpPr/>
          <p:nvPr/>
        </p:nvSpPr>
        <p:spPr>
          <a:xfrm>
            <a:off x="502920" y="25786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Specificity</a:t>
            </a:r>
            <a:endParaRPr lang="en-US" sz="1200" dirty="0"/>
          </a:p>
        </p:txBody>
      </p:sp>
      <p:sp>
        <p:nvSpPr>
          <p:cNvPr id="13" name="Text 10"/>
          <p:cNvSpPr/>
          <p:nvPr/>
        </p:nvSpPr>
        <p:spPr>
          <a:xfrm>
            <a:off x="2578608" y="25786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97.40%</a:t>
            </a:r>
            <a:endParaRPr lang="en-US" sz="1400" dirty="0"/>
          </a:p>
        </p:txBody>
      </p:sp>
      <p:sp>
        <p:nvSpPr>
          <p:cNvPr id="14" name="Text 11"/>
          <p:cNvSpPr/>
          <p:nvPr/>
        </p:nvSpPr>
        <p:spPr>
          <a:xfrm>
            <a:off x="502920" y="30358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F1 Score</a:t>
            </a:r>
            <a:endParaRPr lang="en-US" sz="1200" dirty="0"/>
          </a:p>
        </p:txBody>
      </p:sp>
      <p:sp>
        <p:nvSpPr>
          <p:cNvPr id="15" name="Text 12"/>
          <p:cNvSpPr/>
          <p:nvPr/>
        </p:nvSpPr>
        <p:spPr>
          <a:xfrm>
            <a:off x="2578608" y="30358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0.9600</a:t>
            </a:r>
            <a:endParaRPr lang="en-US" sz="1400" dirty="0"/>
          </a:p>
        </p:txBody>
      </p:sp>
      <p:sp>
        <p:nvSpPr>
          <p:cNvPr id="16" name="Text 13"/>
          <p:cNvSpPr/>
          <p:nvPr/>
        </p:nvSpPr>
        <p:spPr>
          <a:xfrm>
            <a:off x="502920" y="3493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Total Errors</a:t>
            </a:r>
            <a:endParaRPr lang="en-US" sz="1200" dirty="0"/>
          </a:p>
        </p:txBody>
      </p:sp>
      <p:sp>
        <p:nvSpPr>
          <p:cNvPr id="17" name="Text 14"/>
          <p:cNvSpPr/>
          <p:nvPr/>
        </p:nvSpPr>
        <p:spPr>
          <a:xfrm>
            <a:off x="2578608" y="3493008"/>
            <a:ext cx="164592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5 / 140</a:t>
            </a:r>
            <a:endParaRPr lang="en-US" sz="1400" dirty="0"/>
          </a:p>
        </p:txBody>
      </p:sp>
      <p:pic>
        <p:nvPicPr>
          <p:cNvPr id="18" name="Image 0" descr="preencoded.png">    </p:cNvPr>
          <p:cNvPicPr>
            <a:picLocks noChangeAspect="1"/>
          </p:cNvPicPr>
          <p:nvPr/>
        </p:nvPicPr>
        <p:blipFill>
          <a:blip r:embed="rId1"/>
          <a:stretch>
            <a:fillRect/>
          </a:stretch>
        </p:blipFill>
        <p:spPr>
          <a:xfrm>
            <a:off x="4434840" y="960120"/>
            <a:ext cx="4343400" cy="2331720"/>
          </a:xfrm>
          <a:prstGeom prst="rect">
            <a:avLst/>
          </a:prstGeom>
        </p:spPr>
      </p:pic>
      <p:sp>
        <p:nvSpPr>
          <p:cNvPr id="19" name="Text 15"/>
          <p:cNvSpPr/>
          <p:nvPr/>
        </p:nvSpPr>
        <p:spPr>
          <a:xfrm>
            <a:off x="502920" y="4133088"/>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3. EfficientNet-B0 evaluation results (n=140). Left: confusion matrix — 5 total errors, false positives reduced from 14 to 2. Right: ROC curve, AUC = 0.9951.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Results — ResNet-50</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68680"/>
            <a:ext cx="5029200" cy="292608"/>
          </a:xfrm>
          <a:prstGeom prst="rect">
            <a:avLst/>
          </a:prstGeom>
          <a:noFill/>
          <a:ln/>
        </p:spPr>
        <p:txBody>
          <a:bodyPr wrap="square" rtlCol="0" anchor="ctr"/>
          <a:lstStyle/>
          <a:p>
            <a:pPr indent="0" marL="0">
              <a:buNone/>
            </a:pPr>
            <a:r>
              <a:rPr lang="en-US" sz="1100" i="1" dirty="0">
                <a:solidFill>
                  <a:srgbClr val="7A92A8"/>
                </a:solidFill>
                <a:latin typeface="Calibri" pitchFamily="34" charset="0"/>
                <a:ea typeface="Calibri" pitchFamily="34" charset="-122"/>
                <a:cs typeface="Calibri" pitchFamily="34" charset="-120"/>
              </a:rPr>
              <a:t>23.5M parameters — ImageNet pretrained — residual connections — unfrozen fine-tuning</a:t>
            </a:r>
            <a:endParaRPr lang="en-US" sz="1100" dirty="0"/>
          </a:p>
        </p:txBody>
      </p:sp>
      <p:sp>
        <p:nvSpPr>
          <p:cNvPr id="6" name="Text 3"/>
          <p:cNvSpPr/>
          <p:nvPr/>
        </p:nvSpPr>
        <p:spPr>
          <a:xfrm>
            <a:off x="502920" y="1207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Test Accuracy</a:t>
            </a:r>
            <a:endParaRPr lang="en-US" sz="1200" dirty="0"/>
          </a:p>
        </p:txBody>
      </p:sp>
      <p:sp>
        <p:nvSpPr>
          <p:cNvPr id="7" name="Text 4"/>
          <p:cNvSpPr/>
          <p:nvPr/>
        </p:nvSpPr>
        <p:spPr>
          <a:xfrm>
            <a:off x="2578608" y="12070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98.57% ★</a:t>
            </a:r>
            <a:endParaRPr lang="en-US" sz="1400" dirty="0"/>
          </a:p>
        </p:txBody>
      </p:sp>
      <p:sp>
        <p:nvSpPr>
          <p:cNvPr id="8" name="Text 5"/>
          <p:cNvSpPr/>
          <p:nvPr/>
        </p:nvSpPr>
        <p:spPr>
          <a:xfrm>
            <a:off x="502920" y="16642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AUC-ROC</a:t>
            </a:r>
            <a:endParaRPr lang="en-US" sz="1200" dirty="0"/>
          </a:p>
        </p:txBody>
      </p:sp>
      <p:sp>
        <p:nvSpPr>
          <p:cNvPr id="9" name="Text 6"/>
          <p:cNvSpPr/>
          <p:nvPr/>
        </p:nvSpPr>
        <p:spPr>
          <a:xfrm>
            <a:off x="2578608" y="16642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0.9973 ★</a:t>
            </a:r>
            <a:endParaRPr lang="en-US" sz="1400" dirty="0"/>
          </a:p>
        </p:txBody>
      </p:sp>
      <p:sp>
        <p:nvSpPr>
          <p:cNvPr id="10" name="Text 7"/>
          <p:cNvSpPr/>
          <p:nvPr/>
        </p:nvSpPr>
        <p:spPr>
          <a:xfrm>
            <a:off x="502920" y="21214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Sensitivity</a:t>
            </a:r>
            <a:endParaRPr lang="en-US" sz="1200" dirty="0"/>
          </a:p>
        </p:txBody>
      </p:sp>
      <p:sp>
        <p:nvSpPr>
          <p:cNvPr id="11" name="Text 8"/>
          <p:cNvSpPr/>
          <p:nvPr/>
        </p:nvSpPr>
        <p:spPr>
          <a:xfrm>
            <a:off x="2578608" y="21214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98.41% ★</a:t>
            </a:r>
            <a:endParaRPr lang="en-US" sz="1400" dirty="0"/>
          </a:p>
        </p:txBody>
      </p:sp>
      <p:sp>
        <p:nvSpPr>
          <p:cNvPr id="12" name="Text 9"/>
          <p:cNvSpPr/>
          <p:nvPr/>
        </p:nvSpPr>
        <p:spPr>
          <a:xfrm>
            <a:off x="502920" y="25786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Specificity</a:t>
            </a:r>
            <a:endParaRPr lang="en-US" sz="1200" dirty="0"/>
          </a:p>
        </p:txBody>
      </p:sp>
      <p:sp>
        <p:nvSpPr>
          <p:cNvPr id="13" name="Text 10"/>
          <p:cNvSpPr/>
          <p:nvPr/>
        </p:nvSpPr>
        <p:spPr>
          <a:xfrm>
            <a:off x="2578608" y="25786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98.70% ★</a:t>
            </a:r>
            <a:endParaRPr lang="en-US" sz="1400" dirty="0"/>
          </a:p>
        </p:txBody>
      </p:sp>
      <p:sp>
        <p:nvSpPr>
          <p:cNvPr id="14" name="Text 11"/>
          <p:cNvSpPr/>
          <p:nvPr/>
        </p:nvSpPr>
        <p:spPr>
          <a:xfrm>
            <a:off x="502920" y="30358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F1 Score</a:t>
            </a:r>
            <a:endParaRPr lang="en-US" sz="1200" dirty="0"/>
          </a:p>
        </p:txBody>
      </p:sp>
      <p:sp>
        <p:nvSpPr>
          <p:cNvPr id="15" name="Text 12"/>
          <p:cNvSpPr/>
          <p:nvPr/>
        </p:nvSpPr>
        <p:spPr>
          <a:xfrm>
            <a:off x="2578608" y="30358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0.9841 ★</a:t>
            </a:r>
            <a:endParaRPr lang="en-US" sz="1400" dirty="0"/>
          </a:p>
        </p:txBody>
      </p:sp>
      <p:sp>
        <p:nvSpPr>
          <p:cNvPr id="16" name="Text 13"/>
          <p:cNvSpPr/>
          <p:nvPr/>
        </p:nvSpPr>
        <p:spPr>
          <a:xfrm>
            <a:off x="502920" y="3493008"/>
            <a:ext cx="2011680" cy="384048"/>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Total Errors</a:t>
            </a:r>
            <a:endParaRPr lang="en-US" sz="1200" dirty="0"/>
          </a:p>
        </p:txBody>
      </p:sp>
      <p:sp>
        <p:nvSpPr>
          <p:cNvPr id="17" name="Text 14"/>
          <p:cNvSpPr/>
          <p:nvPr/>
        </p:nvSpPr>
        <p:spPr>
          <a:xfrm>
            <a:off x="2578608" y="3493008"/>
            <a:ext cx="1828800" cy="384048"/>
          </a:xfrm>
          <a:prstGeom prst="rect">
            <a:avLst/>
          </a:prstGeom>
          <a:noFill/>
          <a:ln/>
        </p:spPr>
        <p:txBody>
          <a:bodyPr wrap="square" rtlCol="0" anchor="ctr"/>
          <a:lstStyle/>
          <a:p>
            <a:pPr indent="0" marL="0">
              <a:buNone/>
            </a:pPr>
            <a:r>
              <a:rPr lang="en-US" sz="1400" b="1" dirty="0">
                <a:solidFill>
                  <a:srgbClr val="1A6B7A"/>
                </a:solidFill>
                <a:latin typeface="Calibri" pitchFamily="34" charset="0"/>
                <a:ea typeface="Calibri" pitchFamily="34" charset="-122"/>
                <a:cs typeface="Calibri" pitchFamily="34" charset="-120"/>
              </a:rPr>
              <a:t>2 / 140 ★</a:t>
            </a:r>
            <a:endParaRPr lang="en-US" sz="1400" dirty="0"/>
          </a:p>
        </p:txBody>
      </p:sp>
      <p:pic>
        <p:nvPicPr>
          <p:cNvPr id="18" name="Image 0" descr="preencoded.png">    </p:cNvPr>
          <p:cNvPicPr>
            <a:picLocks noChangeAspect="1"/>
          </p:cNvPicPr>
          <p:nvPr/>
        </p:nvPicPr>
        <p:blipFill>
          <a:blip r:embed="rId1"/>
          <a:stretch>
            <a:fillRect/>
          </a:stretch>
        </p:blipFill>
        <p:spPr>
          <a:xfrm>
            <a:off x="4434840" y="960120"/>
            <a:ext cx="4343400" cy="2331720"/>
          </a:xfrm>
          <a:prstGeom prst="rect">
            <a:avLst/>
          </a:prstGeom>
        </p:spPr>
      </p:pic>
      <p:sp>
        <p:nvSpPr>
          <p:cNvPr id="19" name="Text 15"/>
          <p:cNvSpPr/>
          <p:nvPr/>
        </p:nvSpPr>
        <p:spPr>
          <a:xfrm>
            <a:off x="502920" y="4133088"/>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4. ResNet-50 evaluation results (n=140). Left: confusion matrix — only 2 total errors, 1 false positive and 1 false negative. Right: ROC curve, AUC = 0.9973.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Results — Model Comparison</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274320" y="896112"/>
            <a:ext cx="237744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p>
        </p:txBody>
      </p:sp>
      <p:sp>
        <p:nvSpPr>
          <p:cNvPr id="6" name="Text 3"/>
          <p:cNvSpPr/>
          <p:nvPr/>
        </p:nvSpPr>
        <p:spPr>
          <a:xfrm>
            <a:off x="2651760" y="896112"/>
            <a:ext cx="123444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p>
        </p:txBody>
      </p:sp>
      <p:sp>
        <p:nvSpPr>
          <p:cNvPr id="7" name="Text 4"/>
          <p:cNvSpPr/>
          <p:nvPr/>
        </p:nvSpPr>
        <p:spPr>
          <a:xfrm>
            <a:off x="3886200" y="896112"/>
            <a:ext cx="123444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AUC-ROC</a:t>
            </a:r>
            <a:endParaRPr lang="en-US" sz="1250" dirty="0"/>
          </a:p>
        </p:txBody>
      </p:sp>
      <p:sp>
        <p:nvSpPr>
          <p:cNvPr id="8" name="Text 5"/>
          <p:cNvSpPr/>
          <p:nvPr/>
        </p:nvSpPr>
        <p:spPr>
          <a:xfrm>
            <a:off x="5120640" y="896112"/>
            <a:ext cx="123444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Sensitivity</a:t>
            </a:r>
            <a:endParaRPr lang="en-US" sz="1250" dirty="0"/>
          </a:p>
        </p:txBody>
      </p:sp>
      <p:sp>
        <p:nvSpPr>
          <p:cNvPr id="9" name="Text 6"/>
          <p:cNvSpPr/>
          <p:nvPr/>
        </p:nvSpPr>
        <p:spPr>
          <a:xfrm>
            <a:off x="6355080" y="896112"/>
            <a:ext cx="123444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Specificity</a:t>
            </a:r>
            <a:endParaRPr lang="en-US" sz="1250" dirty="0"/>
          </a:p>
        </p:txBody>
      </p:sp>
      <p:sp>
        <p:nvSpPr>
          <p:cNvPr id="10" name="Text 7"/>
          <p:cNvSpPr/>
          <p:nvPr/>
        </p:nvSpPr>
        <p:spPr>
          <a:xfrm>
            <a:off x="7589520" y="896112"/>
            <a:ext cx="1097280" cy="512064"/>
          </a:xfrm>
          <a:prstGeom prst="rect">
            <a:avLst/>
          </a:prstGeom>
          <a:solidFill>
            <a:srgbClr val="0B1F3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Errors / 140</a:t>
            </a:r>
            <a:endParaRPr lang="en-US" sz="1250" dirty="0"/>
          </a:p>
        </p:txBody>
      </p:sp>
      <p:sp>
        <p:nvSpPr>
          <p:cNvPr id="11" name="Text 8"/>
          <p:cNvSpPr/>
          <p:nvPr/>
        </p:nvSpPr>
        <p:spPr>
          <a:xfrm>
            <a:off x="274320" y="1463040"/>
            <a:ext cx="237744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Baseline CNN (scratch)</a:t>
            </a:r>
            <a:endParaRPr lang="en-US" sz="1250" dirty="0"/>
          </a:p>
        </p:txBody>
      </p:sp>
      <p:sp>
        <p:nvSpPr>
          <p:cNvPr id="12" name="Text 9"/>
          <p:cNvSpPr/>
          <p:nvPr/>
        </p:nvSpPr>
        <p:spPr>
          <a:xfrm>
            <a:off x="2651760" y="1463040"/>
            <a:ext cx="123444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87.86%</a:t>
            </a:r>
            <a:endParaRPr lang="en-US" sz="1250" dirty="0"/>
          </a:p>
        </p:txBody>
      </p:sp>
      <p:sp>
        <p:nvSpPr>
          <p:cNvPr id="13" name="Text 10"/>
          <p:cNvSpPr/>
          <p:nvPr/>
        </p:nvSpPr>
        <p:spPr>
          <a:xfrm>
            <a:off x="3886200" y="1463040"/>
            <a:ext cx="123444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0.9588</a:t>
            </a:r>
            <a:endParaRPr lang="en-US" sz="1250" dirty="0"/>
          </a:p>
        </p:txBody>
      </p:sp>
      <p:sp>
        <p:nvSpPr>
          <p:cNvPr id="14" name="Text 11"/>
          <p:cNvSpPr/>
          <p:nvPr/>
        </p:nvSpPr>
        <p:spPr>
          <a:xfrm>
            <a:off x="5120640" y="1463040"/>
            <a:ext cx="123444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95.24%</a:t>
            </a:r>
            <a:endParaRPr lang="en-US" sz="1250" dirty="0"/>
          </a:p>
        </p:txBody>
      </p:sp>
      <p:sp>
        <p:nvSpPr>
          <p:cNvPr id="15" name="Text 12"/>
          <p:cNvSpPr/>
          <p:nvPr/>
        </p:nvSpPr>
        <p:spPr>
          <a:xfrm>
            <a:off x="6355080" y="1463040"/>
            <a:ext cx="123444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81.82%</a:t>
            </a:r>
            <a:endParaRPr lang="en-US" sz="1250" dirty="0"/>
          </a:p>
        </p:txBody>
      </p:sp>
      <p:sp>
        <p:nvSpPr>
          <p:cNvPr id="16" name="Text 13"/>
          <p:cNvSpPr/>
          <p:nvPr/>
        </p:nvSpPr>
        <p:spPr>
          <a:xfrm>
            <a:off x="7589520" y="1463040"/>
            <a:ext cx="1097280" cy="512064"/>
          </a:xfrm>
          <a:prstGeom prst="rect">
            <a:avLst/>
          </a:prstGeom>
          <a:solidFill>
            <a:srgbClr val="FFFFFF"/>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17</a:t>
            </a:r>
            <a:endParaRPr lang="en-US" sz="1250" dirty="0"/>
          </a:p>
        </p:txBody>
      </p:sp>
      <p:sp>
        <p:nvSpPr>
          <p:cNvPr id="17" name="Text 14"/>
          <p:cNvSpPr/>
          <p:nvPr/>
        </p:nvSpPr>
        <p:spPr>
          <a:xfrm>
            <a:off x="274320" y="2029968"/>
            <a:ext cx="237744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EfficientNet-B0</a:t>
            </a:r>
            <a:endParaRPr lang="en-US" sz="1250" dirty="0"/>
          </a:p>
        </p:txBody>
      </p:sp>
      <p:sp>
        <p:nvSpPr>
          <p:cNvPr id="18" name="Text 15"/>
          <p:cNvSpPr/>
          <p:nvPr/>
        </p:nvSpPr>
        <p:spPr>
          <a:xfrm>
            <a:off x="2651760" y="2029968"/>
            <a:ext cx="123444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96.43%</a:t>
            </a:r>
            <a:endParaRPr lang="en-US" sz="1250" dirty="0"/>
          </a:p>
        </p:txBody>
      </p:sp>
      <p:sp>
        <p:nvSpPr>
          <p:cNvPr id="19" name="Text 16"/>
          <p:cNvSpPr/>
          <p:nvPr/>
        </p:nvSpPr>
        <p:spPr>
          <a:xfrm>
            <a:off x="3886200" y="2029968"/>
            <a:ext cx="123444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0.9951</a:t>
            </a:r>
            <a:endParaRPr lang="en-US" sz="1250" dirty="0"/>
          </a:p>
        </p:txBody>
      </p:sp>
      <p:sp>
        <p:nvSpPr>
          <p:cNvPr id="20" name="Text 17"/>
          <p:cNvSpPr/>
          <p:nvPr/>
        </p:nvSpPr>
        <p:spPr>
          <a:xfrm>
            <a:off x="5120640" y="2029968"/>
            <a:ext cx="123444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95.24%</a:t>
            </a:r>
            <a:endParaRPr lang="en-US" sz="1250" dirty="0"/>
          </a:p>
        </p:txBody>
      </p:sp>
      <p:sp>
        <p:nvSpPr>
          <p:cNvPr id="21" name="Text 18"/>
          <p:cNvSpPr/>
          <p:nvPr/>
        </p:nvSpPr>
        <p:spPr>
          <a:xfrm>
            <a:off x="6355080" y="2029968"/>
            <a:ext cx="123444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97.40%</a:t>
            </a:r>
            <a:endParaRPr lang="en-US" sz="1250" dirty="0"/>
          </a:p>
        </p:txBody>
      </p:sp>
      <p:sp>
        <p:nvSpPr>
          <p:cNvPr id="22" name="Text 19"/>
          <p:cNvSpPr/>
          <p:nvPr/>
        </p:nvSpPr>
        <p:spPr>
          <a:xfrm>
            <a:off x="7589520" y="2029968"/>
            <a:ext cx="1097280" cy="512064"/>
          </a:xfrm>
          <a:prstGeom prst="rect">
            <a:avLst/>
          </a:prstGeom>
          <a:solidFill>
            <a:srgbClr val="EEF3F7"/>
          </a:solidFill>
          <a:ln/>
        </p:spPr>
        <p:txBody>
          <a:bodyPr wrap="square" rtlCol="0" anchor="ctr"/>
          <a:lstStyle/>
          <a:p>
            <a:pPr algn="ctr" indent="0" marL="0">
              <a:buNone/>
            </a:pPr>
            <a:r>
              <a:rPr lang="en-US" sz="1250" dirty="0">
                <a:solidFill>
                  <a:srgbClr val="0B1F3A"/>
                </a:solidFill>
                <a:latin typeface="Calibri" pitchFamily="34" charset="0"/>
                <a:ea typeface="Calibri" pitchFamily="34" charset="-122"/>
                <a:cs typeface="Calibri" pitchFamily="34" charset="-120"/>
              </a:rPr>
              <a:t>5</a:t>
            </a:r>
            <a:endParaRPr lang="en-US" sz="1250" dirty="0"/>
          </a:p>
        </p:txBody>
      </p:sp>
      <p:sp>
        <p:nvSpPr>
          <p:cNvPr id="23" name="Text 20"/>
          <p:cNvSpPr/>
          <p:nvPr/>
        </p:nvSpPr>
        <p:spPr>
          <a:xfrm>
            <a:off x="274320" y="2596896"/>
            <a:ext cx="237744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ResNet-50 ★</a:t>
            </a:r>
            <a:endParaRPr lang="en-US" sz="1250" dirty="0"/>
          </a:p>
        </p:txBody>
      </p:sp>
      <p:sp>
        <p:nvSpPr>
          <p:cNvPr id="24" name="Text 21"/>
          <p:cNvSpPr/>
          <p:nvPr/>
        </p:nvSpPr>
        <p:spPr>
          <a:xfrm>
            <a:off x="2651760" y="2596896"/>
            <a:ext cx="123444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98.57%</a:t>
            </a:r>
            <a:endParaRPr lang="en-US" sz="1250" dirty="0"/>
          </a:p>
        </p:txBody>
      </p:sp>
      <p:sp>
        <p:nvSpPr>
          <p:cNvPr id="25" name="Text 22"/>
          <p:cNvSpPr/>
          <p:nvPr/>
        </p:nvSpPr>
        <p:spPr>
          <a:xfrm>
            <a:off x="3886200" y="2596896"/>
            <a:ext cx="123444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0.9973</a:t>
            </a:r>
            <a:endParaRPr lang="en-US" sz="1250" dirty="0"/>
          </a:p>
        </p:txBody>
      </p:sp>
      <p:sp>
        <p:nvSpPr>
          <p:cNvPr id="26" name="Text 23"/>
          <p:cNvSpPr/>
          <p:nvPr/>
        </p:nvSpPr>
        <p:spPr>
          <a:xfrm>
            <a:off x="5120640" y="2596896"/>
            <a:ext cx="123444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98.41%</a:t>
            </a:r>
            <a:endParaRPr lang="en-US" sz="1250" dirty="0"/>
          </a:p>
        </p:txBody>
      </p:sp>
      <p:sp>
        <p:nvSpPr>
          <p:cNvPr id="27" name="Text 24"/>
          <p:cNvSpPr/>
          <p:nvPr/>
        </p:nvSpPr>
        <p:spPr>
          <a:xfrm>
            <a:off x="6355080" y="2596896"/>
            <a:ext cx="123444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98.70%</a:t>
            </a:r>
            <a:endParaRPr lang="en-US" sz="1250" dirty="0"/>
          </a:p>
        </p:txBody>
      </p:sp>
      <p:sp>
        <p:nvSpPr>
          <p:cNvPr id="28" name="Text 25"/>
          <p:cNvSpPr/>
          <p:nvPr/>
        </p:nvSpPr>
        <p:spPr>
          <a:xfrm>
            <a:off x="7589520" y="2596896"/>
            <a:ext cx="1097280" cy="512064"/>
          </a:xfrm>
          <a:prstGeom prst="rect">
            <a:avLst/>
          </a:prstGeom>
          <a:solidFill>
            <a:srgbClr val="1A6B7A"/>
          </a:solid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29" name="Text 26"/>
          <p:cNvSpPr/>
          <p:nvPr/>
        </p:nvSpPr>
        <p:spPr>
          <a:xfrm>
            <a:off x="502920" y="3246120"/>
            <a:ext cx="8138160" cy="658368"/>
          </a:xfrm>
          <a:prstGeom prst="rect">
            <a:avLst/>
          </a:prstGeom>
          <a:noFill/>
          <a:ln/>
        </p:spPr>
        <p:txBody>
          <a:bodyPr wrap="square" rtlCol="0" anchor="ctr"/>
          <a:lstStyle/>
          <a:p>
            <a:pPr indent="0" marL="0">
              <a:spcAft>
                <a:spcPts val="500"/>
              </a:spcAft>
              <a:buNone/>
            </a:pPr>
            <a:r>
              <a:rPr lang="en-US" sz="1300" dirty="0">
                <a:solidFill>
                  <a:srgbClr val="444444"/>
                </a:solidFill>
                <a:latin typeface="Calibri" pitchFamily="34" charset="0"/>
                <a:ea typeface="Calibri" pitchFamily="34" charset="-122"/>
                <a:cs typeface="Calibri" pitchFamily="34" charset="-120"/>
              </a:rPr>
              <a:t>Transfer learning from ImageNet accounts for the 10.71 percentage point accuracy improvement from baseline CNN to ResNet-50. The improvement is not marginal — it is the difference between a viable screening tool and an unreliable one.</a:t>
            </a:r>
            <a:endParaRPr lang="en-US" sz="1300" dirty="0"/>
          </a:p>
        </p:txBody>
      </p:sp>
      <p:sp>
        <p:nvSpPr>
          <p:cNvPr id="30" name="Text 27"/>
          <p:cNvSpPr/>
          <p:nvPr/>
        </p:nvSpPr>
        <p:spPr>
          <a:xfrm>
            <a:off x="502920" y="3950208"/>
            <a:ext cx="8138160" cy="502920"/>
          </a:xfrm>
          <a:prstGeom prst="rect">
            <a:avLst/>
          </a:prstGeom>
          <a:noFill/>
          <a:ln/>
        </p:spPr>
        <p:txBody>
          <a:bodyPr wrap="square" rtlCol="0" anchor="ctr"/>
          <a:lstStyle/>
          <a:p>
            <a:pPr indent="0" marL="0">
              <a:buNone/>
            </a:pPr>
            <a:r>
              <a:rPr lang="en-US" sz="1300" i="1" dirty="0">
                <a:solidFill>
                  <a:srgbClr val="0B1F3A"/>
                </a:solidFill>
                <a:latin typeface="Calibri" pitchFamily="34" charset="0"/>
                <a:ea typeface="Calibri" pitchFamily="34" charset="-122"/>
                <a:cs typeface="Calibri" pitchFamily="34" charset="-120"/>
              </a:rPr>
              <a:t>Sensitivity is the most clinically important metric. ResNet-50 sensitivity of 98.41% means only 1 in 64 sickle cell patients would be missed in a screening setting.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Grad-CAM — True Positive Predictions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41248"/>
            <a:ext cx="8138160" cy="548640"/>
          </a:xfrm>
          <a:prstGeom prst="rect">
            <a:avLst/>
          </a:prstGeom>
          <a:noFill/>
          <a:ln/>
        </p:spPr>
        <p:txBody>
          <a:bodyPr wrap="square" rtlCol="0" anchor="ctr"/>
          <a:lstStyle/>
          <a:p>
            <a:pPr indent="0" marL="0">
              <a:buNone/>
            </a:pPr>
            <a:r>
              <a:rPr lang="en-US" sz="1300" i="1" dirty="0">
                <a:solidFill>
                  <a:srgbClr val="444444"/>
                </a:solidFill>
                <a:latin typeface="Calibri" pitchFamily="34" charset="0"/>
                <a:ea typeface="Calibri" pitchFamily="34" charset="-122"/>
                <a:cs typeface="Calibri" pitchFamily="34" charset="-120"/>
              </a:rPr>
              <a:t>Grad-CAM computes the gradient of the predicted class score with respect to the final convolutional layer feature maps, producing a heatmap showing which image regions most influenced the model's prediction.</a:t>
            </a:r>
            <a:endParaRPr lang="en-US" sz="1300" dirty="0"/>
          </a:p>
        </p:txBody>
      </p:sp>
      <p:pic>
        <p:nvPicPr>
          <p:cNvPr id="6" name="Image 0" descr="preencoded.png">    </p:cNvPr>
          <p:cNvPicPr>
            <a:picLocks noChangeAspect="1"/>
          </p:cNvPicPr>
          <p:nvPr/>
        </p:nvPicPr>
        <p:blipFill>
          <a:blip r:embed="rId1"/>
          <a:stretch>
            <a:fillRect/>
          </a:stretch>
        </p:blipFill>
        <p:spPr>
          <a:xfrm>
            <a:off x="2286000" y="1463040"/>
            <a:ext cx="4572000" cy="2907792"/>
          </a:xfrm>
          <a:prstGeom prst="rect">
            <a:avLst/>
          </a:prstGeom>
        </p:spPr>
      </p:pic>
      <p:sp>
        <p:nvSpPr>
          <p:cNvPr id="7" name="Text 3"/>
          <p:cNvSpPr/>
          <p:nvPr/>
        </p:nvSpPr>
        <p:spPr>
          <a:xfrm>
            <a:off x="502920" y="4462272"/>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5. Grad-CAM true positive predictions — sickle cell images correctly identified by ResNet-50. Each row shows the original image (left), Grad-CAM heatmap (centre), and overlay (right). Warm colours indicate regions of highest model attention. Activation is consistently concentrated within cell-dense regions of the circular microscope field.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Grad-CAM — True Negative Predictions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41248"/>
            <a:ext cx="8138160" cy="502920"/>
          </a:xfrm>
          <a:prstGeom prst="rect">
            <a:avLst/>
          </a:prstGeom>
          <a:noFill/>
          <a:ln/>
        </p:spPr>
        <p:txBody>
          <a:bodyPr wrap="square" rtlCol="0" anchor="ctr"/>
          <a:lstStyle/>
          <a:p>
            <a:pPr indent="0" marL="0">
              <a:buNone/>
            </a:pPr>
            <a:r>
              <a:rPr lang="en-US" sz="1300" i="1" dirty="0">
                <a:solidFill>
                  <a:srgbClr val="444444"/>
                </a:solidFill>
                <a:latin typeface="Calibri" pitchFamily="34" charset="0"/>
                <a:ea typeface="Calibri" pitchFamily="34" charset="-122"/>
                <a:cs typeface="Calibri" pitchFamily="34" charset="-120"/>
              </a:rPr>
              <a:t>True negative predictions show a markedly different activation pattern from true positives, confirming the model has learned a biologically meaningful distinction between the two classes.</a:t>
            </a:r>
            <a:endParaRPr lang="en-US" sz="1300" dirty="0"/>
          </a:p>
        </p:txBody>
      </p:sp>
      <p:pic>
        <p:nvPicPr>
          <p:cNvPr id="6" name="Image 0" descr="preencoded.png">    </p:cNvPr>
          <p:cNvPicPr>
            <a:picLocks noChangeAspect="1"/>
          </p:cNvPicPr>
          <p:nvPr/>
        </p:nvPicPr>
        <p:blipFill>
          <a:blip r:embed="rId1"/>
          <a:stretch>
            <a:fillRect/>
          </a:stretch>
        </p:blipFill>
        <p:spPr>
          <a:xfrm>
            <a:off x="2286000" y="1417320"/>
            <a:ext cx="4572000" cy="2907792"/>
          </a:xfrm>
          <a:prstGeom prst="rect">
            <a:avLst/>
          </a:prstGeom>
        </p:spPr>
      </p:pic>
      <p:sp>
        <p:nvSpPr>
          <p:cNvPr id="7" name="Text 3"/>
          <p:cNvSpPr/>
          <p:nvPr/>
        </p:nvSpPr>
        <p:spPr>
          <a:xfrm>
            <a:off x="502920" y="4407408"/>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6. Grad-CAM true negative predictions — normal images correctly identified by ResNet-50. Activation is diffuse and unfocused with no strong focal point, consistent with the absence of distinctive pathological features. The contrast with Figure 5 confirms the model attends to genuine morphological differences rather than imaging artefacts.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A"/>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Grad-CAM — Error Analysis</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Text 2"/>
          <p:cNvSpPr/>
          <p:nvPr/>
        </p:nvSpPr>
        <p:spPr>
          <a:xfrm>
            <a:off x="502920" y="841248"/>
            <a:ext cx="8138160" cy="347472"/>
          </a:xfrm>
          <a:prstGeom prst="rect">
            <a:avLst/>
          </a:prstGeom>
          <a:noFill/>
          <a:ln/>
        </p:spPr>
        <p:txBody>
          <a:bodyPr wrap="square" rtlCol="0" anchor="ctr"/>
          <a:lstStyle/>
          <a:p>
            <a:pPr indent="0" marL="0">
              <a:buNone/>
            </a:pPr>
            <a:r>
              <a:rPr lang="en-US" sz="1300" i="1" dirty="0">
                <a:solidFill>
                  <a:srgbClr val="444444"/>
                </a:solidFill>
                <a:latin typeface="Calibri" pitchFamily="34" charset="0"/>
                <a:ea typeface="Calibri" pitchFamily="34" charset="-122"/>
                <a:cs typeface="Calibri" pitchFamily="34" charset="-120"/>
              </a:rPr>
              <a:t>ResNet-50 made only 2 errors on 140 test images. Grad-CAM reveals the specific cause of each.</a:t>
            </a:r>
            <a:endParaRPr lang="en-US" sz="1300" dirty="0"/>
          </a:p>
        </p:txBody>
      </p:sp>
      <p:pic>
        <p:nvPicPr>
          <p:cNvPr id="6" name="Image 0" descr="preencoded.png">    </p:cNvPr>
          <p:cNvPicPr>
            <a:picLocks noChangeAspect="1"/>
          </p:cNvPicPr>
          <p:nvPr/>
        </p:nvPicPr>
        <p:blipFill>
          <a:blip r:embed="rId1"/>
          <a:stretch>
            <a:fillRect/>
          </a:stretch>
        </p:blipFill>
        <p:spPr>
          <a:xfrm>
            <a:off x="1645920" y="1261872"/>
            <a:ext cx="5852160" cy="2816352"/>
          </a:xfrm>
          <a:prstGeom prst="rect">
            <a:avLst/>
          </a:prstGeom>
        </p:spPr>
      </p:pic>
      <p:sp>
        <p:nvSpPr>
          <p:cNvPr id="7" name="Text 3"/>
          <p:cNvSpPr/>
          <p:nvPr/>
        </p:nvSpPr>
        <p:spPr>
          <a:xfrm>
            <a:off x="502920" y="4160520"/>
            <a:ext cx="8138160" cy="347472"/>
          </a:xfrm>
          <a:prstGeom prst="rect">
            <a:avLst/>
          </a:prstGeom>
          <a:noFill/>
          <a:ln/>
        </p:spPr>
        <p:txBody>
          <a:bodyPr wrap="square" rtlCol="0" anchor="ctr"/>
          <a:lstStyle/>
          <a:p>
            <a:pPr algn="ctr" indent="0" marL="0">
              <a:buNone/>
            </a:pPr>
            <a:r>
              <a:rPr lang="en-US" sz="1100" i="1" dirty="0">
                <a:solidFill>
                  <a:srgbClr val="555555"/>
                </a:solidFill>
                <a:latin typeface="Calibri" pitchFamily="34" charset="0"/>
                <a:ea typeface="Calibri" pitchFamily="34" charset="-122"/>
                <a:cs typeface="Calibri" pitchFamily="34" charset="-120"/>
              </a:rPr>
              <a:t>Figure 7. Grad-CAM analysis of both ResNet-50 misclassified test images. Top row: false positive — model activation concentrated on a staining artefact (dust particle) rather than cell morphology, confidence 0.841. Bottom row: false negative — diffuse activation with confidence 0.472, caused by unusually dense cell packing and atypical staining. Both errors have identifiable, fixable causes — not fundamental model failure.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3" name="Shape 0"/>
          <p:cNvSpPr/>
          <p:nvPr/>
        </p:nvSpPr>
        <p:spPr>
          <a:xfrm>
            <a:off x="2377440" y="182880"/>
            <a:ext cx="4389120" cy="4389120"/>
          </a:xfrm>
          <a:prstGeom prst="ellipse">
            <a:avLst/>
          </a:prstGeom>
          <a:solidFill>
            <a:srgbClr val="1A6B7A">
              <a:alpha val="10000"/>
            </a:srgbClr>
          </a:solidFill>
          <a:ln w="12700">
            <a:solidFill>
              <a:srgbClr val="1A6B7A">
                <a:alpha val="15000"/>
              </a:srgbClr>
            </a:solidFill>
            <a:prstDash val="solid"/>
          </a:ln>
        </p:spPr>
      </p:sp>
      <p:sp>
        <p:nvSpPr>
          <p:cNvPr id="4" name="Text 1"/>
          <p:cNvSpPr/>
          <p:nvPr/>
        </p:nvSpPr>
        <p:spPr>
          <a:xfrm>
            <a:off x="3657600" y="594360"/>
            <a:ext cx="1828800" cy="1828800"/>
          </a:xfrm>
          <a:prstGeom prst="rect">
            <a:avLst/>
          </a:prstGeom>
          <a:noFill/>
          <a:ln/>
        </p:spPr>
        <p:txBody>
          <a:bodyPr wrap="square" rtlCol="0" anchor="ctr"/>
          <a:lstStyle/>
          <a:p>
            <a:pPr algn="ctr" indent="0" marL="0">
              <a:buNone/>
            </a:pPr>
            <a:r>
              <a:rPr lang="en-US" sz="9000" dirty="0">
                <a:solidFill>
                  <a:srgbClr val="000000"/>
                </a:solidFill>
              </a:rPr>
              <a:t>🔬</a:t>
            </a:r>
            <a:endParaRPr lang="en-US" sz="9000" dirty="0"/>
          </a:p>
        </p:txBody>
      </p:sp>
      <p:sp>
        <p:nvSpPr>
          <p:cNvPr id="5" name="Text 2"/>
          <p:cNvSpPr/>
          <p:nvPr/>
        </p:nvSpPr>
        <p:spPr>
          <a:xfrm>
            <a:off x="914400" y="2423160"/>
            <a:ext cx="7315200" cy="822960"/>
          </a:xfrm>
          <a:prstGeom prst="rect">
            <a:avLst/>
          </a:prstGeom>
          <a:noFill/>
          <a:ln/>
        </p:spPr>
        <p:txBody>
          <a:bodyPr wrap="square" rtlCol="0" anchor="ctr"/>
          <a:lstStyle/>
          <a:p>
            <a:pPr algn="ctr" indent="0" marL="0">
              <a:buNone/>
            </a:pPr>
            <a:r>
              <a:rPr lang="en-US" sz="5200" b="1" spc="1000" kern="0" dirty="0">
                <a:solidFill>
                  <a:srgbClr val="FFFFFF"/>
                </a:solidFill>
                <a:latin typeface="Calibri" pitchFamily="34" charset="0"/>
                <a:ea typeface="Calibri" pitchFamily="34" charset="-122"/>
                <a:cs typeface="Calibri" pitchFamily="34" charset="-120"/>
              </a:rPr>
              <a:t>LIVE DEMO</a:t>
            </a:r>
            <a:endParaRPr lang="en-US" sz="5200" dirty="0"/>
          </a:p>
        </p:txBody>
      </p:sp>
      <p:sp>
        <p:nvSpPr>
          <p:cNvPr id="6" name="Text 3"/>
          <p:cNvSpPr/>
          <p:nvPr/>
        </p:nvSpPr>
        <p:spPr>
          <a:xfrm>
            <a:off x="1371600" y="3310128"/>
            <a:ext cx="6400800" cy="384048"/>
          </a:xfrm>
          <a:prstGeom prst="rect">
            <a:avLst/>
          </a:prstGeom>
          <a:noFill/>
          <a:ln/>
        </p:spPr>
        <p:txBody>
          <a:bodyPr wrap="square" rtlCol="0" anchor="ctr"/>
          <a:lstStyle/>
          <a:p>
            <a:pPr algn="ctr" indent="0" marL="0">
              <a:buNone/>
            </a:pPr>
            <a:r>
              <a:rPr lang="en-US" sz="1400" i="1" dirty="0">
                <a:solidFill>
                  <a:srgbClr val="D4E8EC"/>
                </a:solidFill>
                <a:latin typeface="Calibri" pitchFamily="34" charset="0"/>
                <a:ea typeface="Calibri" pitchFamily="34" charset="-122"/>
                <a:cs typeface="Calibri" pitchFamily="34" charset="-120"/>
              </a:rPr>
              <a:t>Upload a blood smear  →  prediction  +  Grad-CAM heatmap</a:t>
            </a:r>
            <a:endParaRPr lang="en-US" sz="1400" dirty="0"/>
          </a:p>
        </p:txBody>
      </p:sp>
      <p:sp>
        <p:nvSpPr>
          <p:cNvPr id="7" name="Text 4"/>
          <p:cNvSpPr/>
          <p:nvPr/>
        </p:nvSpPr>
        <p:spPr>
          <a:xfrm>
            <a:off x="1371600" y="3840480"/>
            <a:ext cx="6400800" cy="502920"/>
          </a:xfrm>
          <a:prstGeom prst="rect">
            <a:avLst/>
          </a:prstGeom>
          <a:noFill/>
          <a:ln/>
        </p:spPr>
        <p:txBody>
          <a:bodyPr wrap="square" rtlCol="0" anchor="ctr"/>
          <a:lstStyle/>
          <a:p>
            <a:pPr algn="ctr" indent="0" marL="0">
              <a:buNone/>
            </a:pPr>
            <a:r>
              <a:rPr lang="en-US" sz="1500" b="1" dirty="0">
                <a:solidFill>
                  <a:srgbClr val="1DB3A4"/>
                </a:solidFill>
                <a:latin typeface="Calibri" pitchFamily="34" charset="0"/>
                <a:ea typeface="Calibri" pitchFamily="34" charset="-122"/>
                <a:cs typeface="Calibri" pitchFamily="34" charset="-120"/>
              </a:rPr>
              <a:t>huggingface.co/spaces/Patrovas/sickle-cell-detection</a:t>
            </a:r>
            <a:endParaRPr lang="en-US" sz="1500" dirty="0"/>
          </a:p>
        </p:txBody>
      </p:sp>
      <p:sp>
        <p:nvSpPr>
          <p:cNvPr id="8" name="Text 5"/>
          <p:cNvSpPr/>
          <p:nvPr/>
        </p:nvSpPr>
        <p:spPr>
          <a:xfrm>
            <a:off x="914400" y="4617720"/>
            <a:ext cx="7315200" cy="347472"/>
          </a:xfrm>
          <a:prstGeom prst="rect">
            <a:avLst/>
          </a:prstGeom>
          <a:noFill/>
          <a:ln/>
        </p:spPr>
        <p:txBody>
          <a:bodyPr wrap="square" rtlCol="0" anchor="ctr"/>
          <a:lstStyle/>
          <a:p>
            <a:pPr algn="ctr" indent="0" marL="0">
              <a:buNone/>
            </a:pPr>
            <a:r>
              <a:rPr lang="en-US" sz="1200" dirty="0">
                <a:solidFill>
                  <a:srgbClr val="7A92A8"/>
                </a:solidFill>
                <a:latin typeface="Calibri" pitchFamily="34" charset="0"/>
                <a:ea typeface="Calibri" pitchFamily="34" charset="-122"/>
                <a:cs typeface="Calibri" pitchFamily="34" charset="-120"/>
              </a:rPr>
              <a:t>ResNet-50   |   98.57% Accuracy   |   AUC-ROC 0.9973   |   Only 2 errors on 140 test images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02920" y="201168"/>
            <a:ext cx="8138160" cy="475488"/>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Lessons Learned</a:t>
            </a:r>
            <a:endParaRPr lang="en-US" sz="2600" dirty="0"/>
          </a:p>
        </p:txBody>
      </p:sp>
      <p:sp>
        <p:nvSpPr>
          <p:cNvPr id="4" name="Shape 1"/>
          <p:cNvSpPr/>
          <p:nvPr/>
        </p:nvSpPr>
        <p:spPr>
          <a:xfrm>
            <a:off x="502920" y="694944"/>
            <a:ext cx="8138160" cy="25603"/>
          </a:xfrm>
          <a:prstGeom prst="rect">
            <a:avLst/>
          </a:prstGeom>
          <a:solidFill>
            <a:srgbClr val="1DB3A4"/>
          </a:solidFill>
          <a:ln w="12700">
            <a:solidFill>
              <a:srgbClr val="1DB3A4"/>
            </a:solidFill>
            <a:prstDash val="solid"/>
          </a:ln>
        </p:spPr>
      </p:sp>
      <p:sp>
        <p:nvSpPr>
          <p:cNvPr id="5" name="Shape 2"/>
          <p:cNvSpPr/>
          <p:nvPr/>
        </p:nvSpPr>
        <p:spPr>
          <a:xfrm>
            <a:off x="274320" y="804672"/>
            <a:ext cx="4114800" cy="2029968"/>
          </a:xfrm>
          <a:prstGeom prst="rect">
            <a:avLst/>
          </a:prstGeom>
          <a:solidFill>
            <a:srgbClr val="F6F8FA"/>
          </a:solidFill>
          <a:ln w="19050">
            <a:solidFill>
              <a:srgbClr val="2C4A6B"/>
            </a:solidFill>
            <a:prstDash val="solid"/>
          </a:ln>
        </p:spPr>
      </p:sp>
      <p:sp>
        <p:nvSpPr>
          <p:cNvPr id="6" name="Shape 3"/>
          <p:cNvSpPr/>
          <p:nvPr/>
        </p:nvSpPr>
        <p:spPr>
          <a:xfrm>
            <a:off x="274320" y="804672"/>
            <a:ext cx="548640" cy="2029968"/>
          </a:xfrm>
          <a:prstGeom prst="rect">
            <a:avLst/>
          </a:prstGeom>
          <a:solidFill>
            <a:srgbClr val="2C4A6B"/>
          </a:solidFill>
          <a:ln w="12700">
            <a:solidFill>
              <a:srgbClr val="2C4A6B"/>
            </a:solidFill>
            <a:prstDash val="solid"/>
          </a:ln>
        </p:spPr>
      </p:sp>
      <p:sp>
        <p:nvSpPr>
          <p:cNvPr id="7" name="Text 4"/>
          <p:cNvSpPr/>
          <p:nvPr/>
        </p:nvSpPr>
        <p:spPr>
          <a:xfrm>
            <a:off x="292608" y="1536192"/>
            <a:ext cx="530352"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5"/>
          <p:cNvSpPr/>
          <p:nvPr/>
        </p:nvSpPr>
        <p:spPr>
          <a:xfrm>
            <a:off x="932688" y="969264"/>
            <a:ext cx="3337560" cy="658368"/>
          </a:xfrm>
          <a:prstGeom prst="rect">
            <a:avLst/>
          </a:prstGeom>
          <a:noFill/>
          <a:ln/>
        </p:spPr>
        <p:txBody>
          <a:bodyPr wrap="square" rtlCol="0" anchor="ctr"/>
          <a:lstStyle/>
          <a:p>
            <a:pPr indent="0" marL="0">
              <a:buNone/>
            </a:pPr>
            <a:r>
              <a:rPr lang="en-US" sz="1300" b="1" dirty="0">
                <a:solidFill>
                  <a:srgbClr val="2C4A6B"/>
                </a:solidFill>
                <a:latin typeface="Calibri" pitchFamily="34" charset="0"/>
                <a:ea typeface="Calibri" pitchFamily="34" charset="-122"/>
                <a:cs typeface="Calibri" pitchFamily="34" charset="-120"/>
              </a:rPr>
              <a:t>Inspect your data before writing any code</a:t>
            </a:r>
            <a:endParaRPr lang="en-US" sz="1300" dirty="0"/>
          </a:p>
        </p:txBody>
      </p:sp>
      <p:sp>
        <p:nvSpPr>
          <p:cNvPr id="9" name="Text 6"/>
          <p:cNvSpPr/>
          <p:nvPr/>
        </p:nvSpPr>
        <p:spPr>
          <a:xfrm>
            <a:off x="932688" y="1700784"/>
            <a:ext cx="3337560" cy="86868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Both dataset problems were invisible until manual inspection. No amount of modelling would have fixed a fundamentally flawed training set.</a:t>
            </a:r>
            <a:endParaRPr lang="en-US" sz="1250" dirty="0"/>
          </a:p>
        </p:txBody>
      </p:sp>
      <p:sp>
        <p:nvSpPr>
          <p:cNvPr id="10" name="Shape 7"/>
          <p:cNvSpPr/>
          <p:nvPr/>
        </p:nvSpPr>
        <p:spPr>
          <a:xfrm>
            <a:off x="4736592" y="804672"/>
            <a:ext cx="4114800" cy="2029968"/>
          </a:xfrm>
          <a:prstGeom prst="rect">
            <a:avLst/>
          </a:prstGeom>
          <a:solidFill>
            <a:srgbClr val="F6F8FA"/>
          </a:solidFill>
          <a:ln w="19050">
            <a:solidFill>
              <a:srgbClr val="1A6B7A"/>
            </a:solidFill>
            <a:prstDash val="solid"/>
          </a:ln>
        </p:spPr>
      </p:sp>
      <p:sp>
        <p:nvSpPr>
          <p:cNvPr id="11" name="Shape 8"/>
          <p:cNvSpPr/>
          <p:nvPr/>
        </p:nvSpPr>
        <p:spPr>
          <a:xfrm>
            <a:off x="4736592" y="804672"/>
            <a:ext cx="548640" cy="2029968"/>
          </a:xfrm>
          <a:prstGeom prst="rect">
            <a:avLst/>
          </a:prstGeom>
          <a:solidFill>
            <a:srgbClr val="1A6B7A"/>
          </a:solidFill>
          <a:ln w="12700">
            <a:solidFill>
              <a:srgbClr val="1A6B7A"/>
            </a:solidFill>
            <a:prstDash val="solid"/>
          </a:ln>
        </p:spPr>
      </p:sp>
      <p:sp>
        <p:nvSpPr>
          <p:cNvPr id="12" name="Text 9"/>
          <p:cNvSpPr/>
          <p:nvPr/>
        </p:nvSpPr>
        <p:spPr>
          <a:xfrm>
            <a:off x="4754880" y="1536192"/>
            <a:ext cx="530352"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0"/>
          <p:cNvSpPr/>
          <p:nvPr/>
        </p:nvSpPr>
        <p:spPr>
          <a:xfrm>
            <a:off x="5394960" y="969264"/>
            <a:ext cx="3337560" cy="658368"/>
          </a:xfrm>
          <a:prstGeom prst="rect">
            <a:avLst/>
          </a:prstGeom>
          <a:noFill/>
          <a:ln/>
        </p:spPr>
        <p:txBody>
          <a:bodyPr wrap="square" rtlCol="0" anchor="ctr"/>
          <a:lstStyle/>
          <a:p>
            <a:pPr indent="0" marL="0">
              <a:buNone/>
            </a:pPr>
            <a:r>
              <a:rPr lang="en-US" sz="1300" b="1" dirty="0">
                <a:solidFill>
                  <a:srgbClr val="1A6B7A"/>
                </a:solidFill>
                <a:latin typeface="Calibri" pitchFamily="34" charset="0"/>
                <a:ea typeface="Calibri" pitchFamily="34" charset="-122"/>
                <a:cs typeface="Calibri" pitchFamily="34" charset="-120"/>
              </a:rPr>
              <a:t>Transfer learning is not optional on small datasets</a:t>
            </a:r>
            <a:endParaRPr lang="en-US" sz="1300" dirty="0"/>
          </a:p>
        </p:txBody>
      </p:sp>
      <p:sp>
        <p:nvSpPr>
          <p:cNvPr id="14" name="Text 11"/>
          <p:cNvSpPr/>
          <p:nvPr/>
        </p:nvSpPr>
        <p:spPr>
          <a:xfrm>
            <a:off x="5394960" y="1700784"/>
            <a:ext cx="3337560" cy="86868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The gap between 87% and 98% accuracy quantifies the benefit. It is clinically meaningful — fewer missed patients.</a:t>
            </a:r>
            <a:endParaRPr lang="en-US" sz="1250" dirty="0"/>
          </a:p>
        </p:txBody>
      </p:sp>
      <p:sp>
        <p:nvSpPr>
          <p:cNvPr id="15" name="Shape 12"/>
          <p:cNvSpPr/>
          <p:nvPr/>
        </p:nvSpPr>
        <p:spPr>
          <a:xfrm>
            <a:off x="274320" y="3017520"/>
            <a:ext cx="4114800" cy="2029968"/>
          </a:xfrm>
          <a:prstGeom prst="rect">
            <a:avLst/>
          </a:prstGeom>
          <a:solidFill>
            <a:srgbClr val="F6F8FA"/>
          </a:solidFill>
          <a:ln w="19050">
            <a:solidFill>
              <a:srgbClr val="6C3483"/>
            </a:solidFill>
            <a:prstDash val="solid"/>
          </a:ln>
        </p:spPr>
      </p:sp>
      <p:sp>
        <p:nvSpPr>
          <p:cNvPr id="16" name="Shape 13"/>
          <p:cNvSpPr/>
          <p:nvPr/>
        </p:nvSpPr>
        <p:spPr>
          <a:xfrm>
            <a:off x="274320" y="3017520"/>
            <a:ext cx="548640" cy="2029968"/>
          </a:xfrm>
          <a:prstGeom prst="rect">
            <a:avLst/>
          </a:prstGeom>
          <a:solidFill>
            <a:srgbClr val="6C3483"/>
          </a:solidFill>
          <a:ln w="12700">
            <a:solidFill>
              <a:srgbClr val="6C3483"/>
            </a:solidFill>
            <a:prstDash val="solid"/>
          </a:ln>
        </p:spPr>
      </p:sp>
      <p:sp>
        <p:nvSpPr>
          <p:cNvPr id="17" name="Text 14"/>
          <p:cNvSpPr/>
          <p:nvPr/>
        </p:nvSpPr>
        <p:spPr>
          <a:xfrm>
            <a:off x="292608" y="3749040"/>
            <a:ext cx="530352"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5"/>
          <p:cNvSpPr/>
          <p:nvPr/>
        </p:nvSpPr>
        <p:spPr>
          <a:xfrm>
            <a:off x="932688" y="3182112"/>
            <a:ext cx="3337560" cy="658368"/>
          </a:xfrm>
          <a:prstGeom prst="rect">
            <a:avLst/>
          </a:prstGeom>
          <a:noFill/>
          <a:ln/>
        </p:spPr>
        <p:txBody>
          <a:bodyPr wrap="square" rtlCol="0" anchor="ctr"/>
          <a:lstStyle/>
          <a:p>
            <a:pPr indent="0" marL="0">
              <a:buNone/>
            </a:pPr>
            <a:r>
              <a:rPr lang="en-US" sz="1300" b="1" dirty="0">
                <a:solidFill>
                  <a:srgbClr val="6C3483"/>
                </a:solidFill>
                <a:latin typeface="Calibri" pitchFamily="34" charset="0"/>
                <a:ea typeface="Calibri" pitchFamily="34" charset="-122"/>
                <a:cs typeface="Calibri" pitchFamily="34" charset="-120"/>
              </a:rPr>
              <a:t>Explainability reveals what accuracy hides</a:t>
            </a:r>
            <a:endParaRPr lang="en-US" sz="1300" dirty="0"/>
          </a:p>
        </p:txBody>
      </p:sp>
      <p:sp>
        <p:nvSpPr>
          <p:cNvPr id="19" name="Text 16"/>
          <p:cNvSpPr/>
          <p:nvPr/>
        </p:nvSpPr>
        <p:spPr>
          <a:xfrm>
            <a:off x="932688" y="3913632"/>
            <a:ext cx="3337560" cy="86868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Grad-CAM showed the false positive was caused by a dust particle. Without it we would not have known the model was responding to noise.</a:t>
            </a:r>
            <a:endParaRPr lang="en-US" sz="1250" dirty="0"/>
          </a:p>
        </p:txBody>
      </p:sp>
      <p:sp>
        <p:nvSpPr>
          <p:cNvPr id="20" name="Shape 17"/>
          <p:cNvSpPr/>
          <p:nvPr/>
        </p:nvSpPr>
        <p:spPr>
          <a:xfrm>
            <a:off x="4736592" y="3017520"/>
            <a:ext cx="4114800" cy="2029968"/>
          </a:xfrm>
          <a:prstGeom prst="rect">
            <a:avLst/>
          </a:prstGeom>
          <a:solidFill>
            <a:srgbClr val="F6F8FA"/>
          </a:solidFill>
          <a:ln w="19050">
            <a:solidFill>
              <a:srgbClr val="D4850A"/>
            </a:solidFill>
            <a:prstDash val="solid"/>
          </a:ln>
        </p:spPr>
      </p:sp>
      <p:sp>
        <p:nvSpPr>
          <p:cNvPr id="21" name="Shape 18"/>
          <p:cNvSpPr/>
          <p:nvPr/>
        </p:nvSpPr>
        <p:spPr>
          <a:xfrm>
            <a:off x="4736592" y="3017520"/>
            <a:ext cx="548640" cy="2029968"/>
          </a:xfrm>
          <a:prstGeom prst="rect">
            <a:avLst/>
          </a:prstGeom>
          <a:solidFill>
            <a:srgbClr val="D4850A"/>
          </a:solidFill>
          <a:ln w="12700">
            <a:solidFill>
              <a:srgbClr val="D4850A"/>
            </a:solidFill>
            <a:prstDash val="solid"/>
          </a:ln>
        </p:spPr>
      </p:sp>
      <p:sp>
        <p:nvSpPr>
          <p:cNvPr id="22" name="Text 19"/>
          <p:cNvSpPr/>
          <p:nvPr/>
        </p:nvSpPr>
        <p:spPr>
          <a:xfrm>
            <a:off x="4754880" y="3749040"/>
            <a:ext cx="530352" cy="47548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0"/>
          <p:cNvSpPr/>
          <p:nvPr/>
        </p:nvSpPr>
        <p:spPr>
          <a:xfrm>
            <a:off x="5394960" y="3182112"/>
            <a:ext cx="3337560" cy="658368"/>
          </a:xfrm>
          <a:prstGeom prst="rect">
            <a:avLst/>
          </a:prstGeom>
          <a:noFill/>
          <a:ln/>
        </p:spPr>
        <p:txBody>
          <a:bodyPr wrap="square" rtlCol="0" anchor="ctr"/>
          <a:lstStyle/>
          <a:p>
            <a:pPr indent="0" marL="0">
              <a:buNone/>
            </a:pPr>
            <a:r>
              <a:rPr lang="en-US" sz="1300" b="1" dirty="0">
                <a:solidFill>
                  <a:srgbClr val="D4850A"/>
                </a:solidFill>
                <a:latin typeface="Calibri" pitchFamily="34" charset="0"/>
                <a:ea typeface="Calibri" pitchFamily="34" charset="-122"/>
                <a:cs typeface="Calibri" pitchFamily="34" charset="-120"/>
              </a:rPr>
              <a:t>Domain gaps within a class matter too</a:t>
            </a:r>
            <a:endParaRPr lang="en-US" sz="1300" dirty="0"/>
          </a:p>
        </p:txBody>
      </p:sp>
      <p:sp>
        <p:nvSpPr>
          <p:cNvPr id="24" name="Text 21"/>
          <p:cNvSpPr/>
          <p:nvPr/>
        </p:nvSpPr>
        <p:spPr>
          <a:xfrm>
            <a:off x="5394960" y="3913632"/>
            <a:ext cx="3337560" cy="868680"/>
          </a:xfrm>
          <a:prstGeom prst="rect">
            <a:avLst/>
          </a:prstGeom>
          <a:noFill/>
          <a:ln/>
        </p:spPr>
        <p:txBody>
          <a:bodyPr wrap="square" rtlCol="0" anchor="ctr"/>
          <a:lstStyle/>
          <a:p>
            <a:pPr indent="0" marL="0">
              <a:buNone/>
            </a:pPr>
            <a:r>
              <a:rPr lang="en-US" sz="1250" dirty="0">
                <a:solidFill>
                  <a:srgbClr val="0B1F3A"/>
                </a:solidFill>
                <a:latin typeface="Calibri" pitchFamily="34" charset="0"/>
                <a:ea typeface="Calibri" pitchFamily="34" charset="-122"/>
                <a:cs typeface="Calibri" pitchFamily="34" charset="-120"/>
              </a:rPr>
              <a:t>BCCD and Tushabe images look different within the negative class. A model can exploit that visual difference as an unintended shortcut.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3" name="Shape 0"/>
          <p:cNvSpPr/>
          <p:nvPr/>
        </p:nvSpPr>
        <p:spPr>
          <a:xfrm>
            <a:off x="-548640" y="2743200"/>
            <a:ext cx="3200400" cy="3200400"/>
          </a:xfrm>
          <a:prstGeom prst="ellipse">
            <a:avLst/>
          </a:prstGeom>
          <a:solidFill>
            <a:srgbClr val="1A6B7A">
              <a:alpha val="12000"/>
            </a:srgbClr>
          </a:solidFill>
          <a:ln w="12700">
            <a:solidFill>
              <a:srgbClr val="1A6B7A">
                <a:alpha val="16000"/>
              </a:srgbClr>
            </a:solidFill>
            <a:prstDash val="solid"/>
          </a:ln>
        </p:spPr>
      </p:sp>
      <p:sp>
        <p:nvSpPr>
          <p:cNvPr id="4" name="Text 1"/>
          <p:cNvSpPr/>
          <p:nvPr/>
        </p:nvSpPr>
        <p:spPr>
          <a:xfrm>
            <a:off x="457200" y="164592"/>
            <a:ext cx="8229600" cy="530352"/>
          </a:xfrm>
          <a:prstGeom prst="rect">
            <a:avLst/>
          </a:prstGeom>
          <a:noFill/>
          <a:ln/>
        </p:spPr>
        <p:txBody>
          <a:bodyPr wrap="square" rtlCol="0" anchor="ctr"/>
          <a:lstStyle/>
          <a:p>
            <a:pPr indent="0" marL="0">
              <a:buNone/>
            </a:pPr>
            <a:r>
              <a:rPr lang="en-US" sz="3000" b="1" dirty="0">
                <a:solidFill>
                  <a:srgbClr val="1DB3A4"/>
                </a:solidFill>
                <a:latin typeface="Calibri" pitchFamily="34" charset="0"/>
                <a:ea typeface="Calibri" pitchFamily="34" charset="-122"/>
                <a:cs typeface="Calibri" pitchFamily="34" charset="-120"/>
              </a:rPr>
              <a:t>Conclusion</a:t>
            </a:r>
            <a:endParaRPr lang="en-US" sz="3000" dirty="0"/>
          </a:p>
        </p:txBody>
      </p:sp>
      <p:sp>
        <p:nvSpPr>
          <p:cNvPr id="5" name="Shape 2"/>
          <p:cNvSpPr/>
          <p:nvPr/>
        </p:nvSpPr>
        <p:spPr>
          <a:xfrm>
            <a:off x="457200" y="822960"/>
            <a:ext cx="8229600" cy="621792"/>
          </a:xfrm>
          <a:prstGeom prst="rect">
            <a:avLst/>
          </a:prstGeom>
          <a:solidFill>
            <a:srgbClr val="1A3A50"/>
          </a:solidFill>
          <a:ln w="12700">
            <a:solidFill>
              <a:srgbClr val="1A6B7A"/>
            </a:solidFill>
            <a:prstDash val="solid"/>
          </a:ln>
        </p:spPr>
      </p:sp>
      <p:sp>
        <p:nvSpPr>
          <p:cNvPr id="6" name="Text 3"/>
          <p:cNvSpPr/>
          <p:nvPr/>
        </p:nvSpPr>
        <p:spPr>
          <a:xfrm>
            <a:off x="502920" y="822960"/>
            <a:ext cx="594360" cy="621792"/>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7" name="Text 4"/>
          <p:cNvSpPr/>
          <p:nvPr/>
        </p:nvSpPr>
        <p:spPr>
          <a:xfrm>
            <a:off x="1143000" y="822960"/>
            <a:ext cx="7406640" cy="6217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First deep learning study to detect sickle cell disease from the Tushabe (2024) Ugandan clinical mobile-phone microscopy dataset</a:t>
            </a:r>
            <a:endParaRPr lang="en-US" sz="1300" dirty="0"/>
          </a:p>
        </p:txBody>
      </p:sp>
      <p:sp>
        <p:nvSpPr>
          <p:cNvPr id="8" name="Shape 5"/>
          <p:cNvSpPr/>
          <p:nvPr/>
        </p:nvSpPr>
        <p:spPr>
          <a:xfrm>
            <a:off x="457200" y="1572768"/>
            <a:ext cx="8229600" cy="621792"/>
          </a:xfrm>
          <a:prstGeom prst="rect">
            <a:avLst/>
          </a:prstGeom>
          <a:solidFill>
            <a:srgbClr val="1A3A50"/>
          </a:solidFill>
          <a:ln w="12700">
            <a:solidFill>
              <a:srgbClr val="1A6B7A"/>
            </a:solidFill>
            <a:prstDash val="solid"/>
          </a:ln>
        </p:spPr>
      </p:sp>
      <p:sp>
        <p:nvSpPr>
          <p:cNvPr id="9" name="Text 6"/>
          <p:cNvSpPr/>
          <p:nvPr/>
        </p:nvSpPr>
        <p:spPr>
          <a:xfrm>
            <a:off x="502920" y="1572768"/>
            <a:ext cx="594360" cy="621792"/>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0" name="Text 7"/>
          <p:cNvSpPr/>
          <p:nvPr/>
        </p:nvSpPr>
        <p:spPr>
          <a:xfrm>
            <a:off x="1143000" y="1572768"/>
            <a:ext cx="7406640" cy="6217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ResNet-50 achieves 98.57% accuracy and AUC-ROC of 0.9973 — only 2 errors on 140 test images</a:t>
            </a:r>
            <a:endParaRPr lang="en-US" sz="1300" dirty="0"/>
          </a:p>
        </p:txBody>
      </p:sp>
      <p:sp>
        <p:nvSpPr>
          <p:cNvPr id="11" name="Shape 8"/>
          <p:cNvSpPr/>
          <p:nvPr/>
        </p:nvSpPr>
        <p:spPr>
          <a:xfrm>
            <a:off x="457200" y="2322576"/>
            <a:ext cx="8229600" cy="621792"/>
          </a:xfrm>
          <a:prstGeom prst="rect">
            <a:avLst/>
          </a:prstGeom>
          <a:solidFill>
            <a:srgbClr val="1A3A50"/>
          </a:solidFill>
          <a:ln w="12700">
            <a:solidFill>
              <a:srgbClr val="1A6B7A"/>
            </a:solidFill>
            <a:prstDash val="solid"/>
          </a:ln>
        </p:spPr>
      </p:sp>
      <p:sp>
        <p:nvSpPr>
          <p:cNvPr id="12" name="Text 9"/>
          <p:cNvSpPr/>
          <p:nvPr/>
        </p:nvSpPr>
        <p:spPr>
          <a:xfrm>
            <a:off x="502920" y="2322576"/>
            <a:ext cx="594360" cy="621792"/>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0"/>
          <p:cNvSpPr/>
          <p:nvPr/>
        </p:nvSpPr>
        <p:spPr>
          <a:xfrm>
            <a:off x="1143000" y="2322576"/>
            <a:ext cx="7406640" cy="6217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Grad-CAM confirms the model learns genuine cell morphology — not imaging artefacts — and both errors have fixable causes</a:t>
            </a:r>
            <a:endParaRPr lang="en-US" sz="1300" dirty="0"/>
          </a:p>
        </p:txBody>
      </p:sp>
      <p:sp>
        <p:nvSpPr>
          <p:cNvPr id="14" name="Shape 11"/>
          <p:cNvSpPr/>
          <p:nvPr/>
        </p:nvSpPr>
        <p:spPr>
          <a:xfrm>
            <a:off x="457200" y="3072384"/>
            <a:ext cx="8229600" cy="621792"/>
          </a:xfrm>
          <a:prstGeom prst="rect">
            <a:avLst/>
          </a:prstGeom>
          <a:solidFill>
            <a:srgbClr val="1A3A50"/>
          </a:solidFill>
          <a:ln w="12700">
            <a:solidFill>
              <a:srgbClr val="1A6B7A"/>
            </a:solidFill>
            <a:prstDash val="solid"/>
          </a:ln>
        </p:spPr>
      </p:sp>
      <p:sp>
        <p:nvSpPr>
          <p:cNvPr id="15" name="Text 12"/>
          <p:cNvSpPr/>
          <p:nvPr/>
        </p:nvSpPr>
        <p:spPr>
          <a:xfrm>
            <a:off x="502920" y="3072384"/>
            <a:ext cx="594360" cy="621792"/>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3"/>
          <p:cNvSpPr/>
          <p:nvPr/>
        </p:nvSpPr>
        <p:spPr>
          <a:xfrm>
            <a:off x="1143000" y="3072384"/>
            <a:ext cx="7406640" cy="6217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Deployed Gradio application demonstrates a viable mobile-first screening tool for non-specialist health workers in rural Uganda</a:t>
            </a:r>
            <a:endParaRPr lang="en-US" sz="1300" dirty="0"/>
          </a:p>
        </p:txBody>
      </p:sp>
      <p:sp>
        <p:nvSpPr>
          <p:cNvPr id="17" name="Shape 14"/>
          <p:cNvSpPr/>
          <p:nvPr/>
        </p:nvSpPr>
        <p:spPr>
          <a:xfrm>
            <a:off x="457200" y="3822192"/>
            <a:ext cx="8229600" cy="621792"/>
          </a:xfrm>
          <a:prstGeom prst="rect">
            <a:avLst/>
          </a:prstGeom>
          <a:solidFill>
            <a:srgbClr val="1A3A50"/>
          </a:solidFill>
          <a:ln w="12700">
            <a:solidFill>
              <a:srgbClr val="1A6B7A"/>
            </a:solidFill>
            <a:prstDash val="solid"/>
          </a:ln>
        </p:spPr>
      </p:sp>
      <p:sp>
        <p:nvSpPr>
          <p:cNvPr id="18" name="Text 15"/>
          <p:cNvSpPr/>
          <p:nvPr/>
        </p:nvSpPr>
        <p:spPr>
          <a:xfrm>
            <a:off x="502920" y="3822192"/>
            <a:ext cx="594360" cy="621792"/>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6"/>
          <p:cNvSpPr/>
          <p:nvPr/>
        </p:nvSpPr>
        <p:spPr>
          <a:xfrm>
            <a:off x="1143000" y="3822192"/>
            <a:ext cx="7406640" cy="621792"/>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Transfer learning bridges the data scarcity challenge that makes medical AI difficult in low-resource settings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6B7A"/>
        </a:solidFill>
      </p:bgPr>
    </p:bg>
    <p:spTree>
      <p:nvGrpSpPr>
        <p:cNvPr id="1" name=""/>
        <p:cNvGrpSpPr/>
        <p:nvPr/>
      </p:nvGrpSpPr>
      <p:grpSpPr>
        <a:xfrm>
          <a:off x="0" y="0"/>
          <a:ext cx="0" cy="0"/>
          <a:chOff x="0" y="0"/>
          <a:chExt cx="0" cy="0"/>
        </a:xfrm>
      </p:grpSpPr>
      <p:sp>
        <p:nvSpPr>
          <p:cNvPr id="3" name="Shape 0"/>
          <p:cNvSpPr/>
          <p:nvPr/>
        </p:nvSpPr>
        <p:spPr>
          <a:xfrm>
            <a:off x="6400800" y="1828800"/>
            <a:ext cx="4114800" cy="4114800"/>
          </a:xfrm>
          <a:prstGeom prst="ellipse">
            <a:avLst/>
          </a:prstGeom>
          <a:solidFill>
            <a:srgbClr val="091628">
              <a:alpha val="16000"/>
            </a:srgbClr>
          </a:solidFill>
          <a:ln w="12700">
            <a:solidFill>
              <a:srgbClr val="091628">
                <a:alpha val="20000"/>
              </a:srgbClr>
            </a:solidFill>
            <a:prstDash val="solid"/>
          </a:ln>
        </p:spPr>
      </p:sp>
      <p:sp>
        <p:nvSpPr>
          <p:cNvPr id="4" name="Text 1"/>
          <p:cNvSpPr/>
          <p:nvPr/>
        </p:nvSpPr>
        <p:spPr>
          <a:xfrm>
            <a:off x="457200" y="685800"/>
            <a:ext cx="8229600" cy="1188720"/>
          </a:xfrm>
          <a:prstGeom prst="rect">
            <a:avLst/>
          </a:prstGeom>
          <a:noFill/>
          <a:ln/>
        </p:spPr>
        <p:txBody>
          <a:bodyPr wrap="square" rtlCol="0" anchor="ctr"/>
          <a:lstStyle/>
          <a:p>
            <a:pPr algn="ct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Text 2"/>
          <p:cNvSpPr/>
          <p:nvPr/>
        </p:nvSpPr>
        <p:spPr>
          <a:xfrm>
            <a:off x="457200" y="1920240"/>
            <a:ext cx="8229600" cy="594360"/>
          </a:xfrm>
          <a:prstGeom prst="rect">
            <a:avLst/>
          </a:prstGeom>
          <a:noFill/>
          <a:ln/>
        </p:spPr>
        <p:txBody>
          <a:bodyPr wrap="square" rtlCol="0" anchor="ctr"/>
          <a:lstStyle/>
          <a:p>
            <a:pPr algn="ctr" indent="0" marL="0">
              <a:buNone/>
            </a:pPr>
            <a:r>
              <a:rPr lang="en-US" sz="2600" i="1" dirty="0">
                <a:solidFill>
                  <a:srgbClr val="D4E8EC"/>
                </a:solidFill>
                <a:latin typeface="Calibri" pitchFamily="34" charset="0"/>
                <a:ea typeface="Calibri" pitchFamily="34" charset="-122"/>
                <a:cs typeface="Calibri" pitchFamily="34" charset="-120"/>
              </a:rPr>
              <a:t>Questions?</a:t>
            </a:r>
            <a:endParaRPr lang="en-US" sz="2600" dirty="0"/>
          </a:p>
        </p:txBody>
      </p:sp>
      <p:sp>
        <p:nvSpPr>
          <p:cNvPr id="6" name="Text 3"/>
          <p:cNvSpPr/>
          <p:nvPr/>
        </p:nvSpPr>
        <p:spPr>
          <a:xfrm>
            <a:off x="1371600" y="2788920"/>
            <a:ext cx="6400800" cy="45720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github.com/Patro331/sickle-cell-detection</a:t>
            </a:r>
            <a:endParaRPr lang="en-US" sz="1300" dirty="0"/>
          </a:p>
        </p:txBody>
      </p:sp>
      <p:sp>
        <p:nvSpPr>
          <p:cNvPr id="7" name="Text 4"/>
          <p:cNvSpPr/>
          <p:nvPr/>
        </p:nvSpPr>
        <p:spPr>
          <a:xfrm>
            <a:off x="1371600" y="3401568"/>
            <a:ext cx="6400800" cy="502920"/>
          </a:xfrm>
          <a:prstGeom prst="rect">
            <a:avLst/>
          </a:prstGeom>
          <a:noFill/>
          <a:ln/>
        </p:spPr>
        <p:txBody>
          <a:bodyPr wrap="square" rtlCol="0" anchor="ctr"/>
          <a:lstStyle/>
          <a:p>
            <a:pPr algn="ctr" indent="0" marL="0">
              <a:buNone/>
            </a:pPr>
            <a:r>
              <a:rPr lang="en-US" sz="1300" b="1" dirty="0">
                <a:solidFill>
                  <a:srgbClr val="1DB3A4"/>
                </a:solidFill>
                <a:latin typeface="Calibri" pitchFamily="34" charset="0"/>
                <a:ea typeface="Calibri" pitchFamily="34" charset="-122"/>
                <a:cs typeface="Calibri" pitchFamily="34" charset="-120"/>
              </a:rPr>
              <a:t>huggingface.co/spaces/Patrovas/sickle-cell-detection</a:t>
            </a:r>
            <a:endParaRPr lang="en-US" sz="1300" dirty="0"/>
          </a:p>
        </p:txBody>
      </p:sp>
      <p:sp>
        <p:nvSpPr>
          <p:cNvPr id="8" name="Text 5"/>
          <p:cNvSpPr/>
          <p:nvPr/>
        </p:nvSpPr>
        <p:spPr>
          <a:xfrm>
            <a:off x="457200" y="4206240"/>
            <a:ext cx="8229600" cy="347472"/>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Okidi Patrovas Gabriel   |   2025/HD07/26020U   |   Makerere University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Sickle Cell Detection — Deep Learning</dc:title>
  <dc:subject>PptxGenJS Presentation</dc:subject>
  <dc:creator>Okidi Patrovas Gabriel</dc:creator>
  <cp:lastModifiedBy>Okidi Patrovas Gabriel</cp:lastModifiedBy>
  <cp:revision>1</cp:revision>
  <dcterms:created xsi:type="dcterms:W3CDTF">2026-05-22T21:19:36Z</dcterms:created>
  <dcterms:modified xsi:type="dcterms:W3CDTF">2026-05-22T21:19:36Z</dcterms:modified>
</cp:coreProperties>
</file>